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6" r:id="rId9"/>
    <p:sldId id="263" r:id="rId10"/>
    <p:sldId id="264" r:id="rId11"/>
    <p:sldId id="265" r:id="rId12"/>
  </p:sldIdLst>
  <p:sldSz cx="14630400" cy="8229600"/>
  <p:notesSz cx="8229600" cy="14630400"/>
  <p:embeddedFontLst>
    <p:embeddedFont>
      <p:font typeface="Cambria Math" panose="02040503050406030204" pitchFamily="18" charset="0"/>
      <p:regular r:id="rId14"/>
    </p:embeddedFont>
    <p:embeddedFont>
      <p:font typeface="High Tower Text" panose="02040502050506030303" pitchFamily="18" charset="0"/>
      <p:regular r:id="rId15"/>
      <p:italic r:id="rId16"/>
    </p:embeddedFont>
    <p:embeddedFont>
      <p:font typeface="HP Simplified" panose="020B0604020202020204" charset="0"/>
      <p:regular r:id="rId17"/>
      <p:bold r:id="rId18"/>
      <p:italic r:id="rId19"/>
      <p:boldItalic r:id="rId20"/>
    </p:embeddedFont>
    <p:embeddedFont>
      <p:font typeface="Inter"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50" d="100"/>
          <a:sy n="50" d="100"/>
        </p:scale>
        <p:origin x="1522" y="5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74863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4.png"/><Relationship Id="rId7" Type="http://schemas.openxmlformats.org/officeDocument/2006/relationships/image" Target="../media/image7.sv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0.tmp"/><Relationship Id="rId4" Type="http://schemas.openxmlformats.org/officeDocument/2006/relationships/image" Target="../media/image5.png"/><Relationship Id="rId9" Type="http://schemas.openxmlformats.org/officeDocument/2006/relationships/image" Target="../media/image9.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13.jpeg"/></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4" name="Text 1"/>
          <p:cNvSpPr/>
          <p:nvPr/>
        </p:nvSpPr>
        <p:spPr>
          <a:xfrm>
            <a:off x="1535303" y="1287479"/>
            <a:ext cx="11954647" cy="2827321"/>
          </a:xfrm>
          <a:prstGeom prst="rect">
            <a:avLst/>
          </a:prstGeom>
          <a:noFill/>
          <a:ln/>
        </p:spPr>
        <p:txBody>
          <a:bodyPr wrap="square" lIns="0" tIns="0" rIns="0" bIns="0" rtlCol="0" anchor="t"/>
          <a:lstStyle/>
          <a:p>
            <a:pPr marL="0" indent="0" algn="ctr">
              <a:lnSpc>
                <a:spcPts val="5550"/>
              </a:lnSpc>
              <a:buNone/>
            </a:pPr>
            <a:r>
              <a:rPr lang="en-US" sz="4450" b="1" dirty="0">
                <a:solidFill>
                  <a:srgbClr val="000000"/>
                </a:solidFill>
                <a:latin typeface="HP Simplified" panose="020B0604020204020204" pitchFamily="34" charset="0"/>
                <a:ea typeface="Inter Bold" pitchFamily="34" charset="-122"/>
                <a:cs typeface="Inter Bold" pitchFamily="34" charset="-120"/>
              </a:rPr>
              <a:t>Radar Signal Detection in Spectrograms </a:t>
            </a:r>
            <a:r>
              <a:rPr lang="en-US" sz="4450" b="1" dirty="0">
                <a:solidFill>
                  <a:srgbClr val="000000"/>
                </a:solidFill>
                <a:latin typeface="Inter Bold" pitchFamily="34" charset="0"/>
                <a:ea typeface="Inter Bold" pitchFamily="34" charset="-122"/>
                <a:cs typeface="Inter Bold" pitchFamily="34" charset="-120"/>
              </a:rPr>
              <a:t>: </a:t>
            </a:r>
            <a:r>
              <a:rPr lang="en-US" sz="4340" b="1" dirty="0">
                <a:solidFill>
                  <a:srgbClr val="000000"/>
                </a:solidFill>
                <a:latin typeface="High Tower Text" panose="02040502050506030303" pitchFamily="18" charset="0"/>
                <a:ea typeface="Inter Bold" pitchFamily="34" charset="-122"/>
                <a:cs typeface="Inter Bold" pitchFamily="34" charset="-120"/>
              </a:rPr>
              <a:t>Ablation-Driven Analysis , Hybrid Detection Framework, and Embedded Deployment</a:t>
            </a:r>
            <a:endParaRPr lang="en-US" sz="4340" dirty="0">
              <a:latin typeface="High Tower Text" panose="02040502050506030303" pitchFamily="18" charset="0"/>
            </a:endParaRPr>
          </a:p>
        </p:txBody>
      </p:sp>
      <p:sp>
        <p:nvSpPr>
          <p:cNvPr id="5" name="Text 2"/>
          <p:cNvSpPr/>
          <p:nvPr/>
        </p:nvSpPr>
        <p:spPr>
          <a:xfrm>
            <a:off x="2503484" y="4249882"/>
            <a:ext cx="10339679" cy="2827321"/>
          </a:xfrm>
          <a:prstGeom prst="rect">
            <a:avLst/>
          </a:prstGeom>
          <a:noFill/>
          <a:ln/>
        </p:spPr>
        <p:txBody>
          <a:bodyPr wrap="square" lIns="0" tIns="0" rIns="0" bIns="0" rtlCol="0" anchor="t"/>
          <a:lstStyle/>
          <a:p>
            <a:pPr marL="0" indent="0" algn="ctr">
              <a:lnSpc>
                <a:spcPts val="2850"/>
              </a:lnSpc>
              <a:buNone/>
            </a:pPr>
            <a:r>
              <a:rPr lang="en-US" b="1" dirty="0">
                <a:solidFill>
                  <a:srgbClr val="272525"/>
                </a:solidFill>
                <a:latin typeface="Inter Bold"/>
                <a:ea typeface="Inter Bold"/>
                <a:cs typeface="Inter" pitchFamily="34" charset="-120"/>
              </a:rPr>
              <a:t>Harshit Anand  </a:t>
            </a:r>
            <a:r>
              <a:rPr lang="en-US" dirty="0">
                <a:solidFill>
                  <a:srgbClr val="272525"/>
                </a:solidFill>
                <a:latin typeface="Inter Bold"/>
                <a:ea typeface="Inter Bold"/>
                <a:cs typeface="Inter" pitchFamily="34" charset="-120"/>
              </a:rPr>
              <a:t>(24095134) </a:t>
            </a:r>
          </a:p>
          <a:p>
            <a:pPr marL="0" indent="0" algn="ctr">
              <a:lnSpc>
                <a:spcPts val="2850"/>
              </a:lnSpc>
              <a:buNone/>
            </a:pPr>
            <a:r>
              <a:rPr lang="en-US" b="1" dirty="0">
                <a:solidFill>
                  <a:srgbClr val="272525"/>
                </a:solidFill>
                <a:latin typeface="Inter Bold"/>
                <a:ea typeface="Inter Bold"/>
                <a:cs typeface="Inter" pitchFamily="34" charset="-120"/>
              </a:rPr>
              <a:t>Ayush Verma   </a:t>
            </a:r>
            <a:r>
              <a:rPr lang="en-US" dirty="0">
                <a:solidFill>
                  <a:srgbClr val="272525"/>
                </a:solidFill>
                <a:latin typeface="Inter Bold"/>
                <a:ea typeface="Inter Bold"/>
                <a:cs typeface="Inter" pitchFamily="34" charset="-120"/>
              </a:rPr>
              <a:t>(24095136)</a:t>
            </a:r>
          </a:p>
          <a:p>
            <a:pPr marL="0" indent="0" algn="ctr">
              <a:lnSpc>
                <a:spcPts val="2850"/>
              </a:lnSpc>
              <a:buNone/>
            </a:pPr>
            <a:r>
              <a:rPr lang="en-US" b="1" dirty="0">
                <a:solidFill>
                  <a:srgbClr val="272525"/>
                </a:solidFill>
                <a:latin typeface="Inter Bold"/>
                <a:ea typeface="Inter Bold"/>
                <a:cs typeface="Inter" pitchFamily="34" charset="-120"/>
              </a:rPr>
              <a:t>Bibek Barman   </a:t>
            </a:r>
            <a:r>
              <a:rPr lang="en-US" dirty="0">
                <a:solidFill>
                  <a:srgbClr val="272525"/>
                </a:solidFill>
                <a:latin typeface="Inter Bold"/>
                <a:ea typeface="Inter Bold"/>
                <a:cs typeface="Inter" pitchFamily="34" charset="-120"/>
              </a:rPr>
              <a:t>(24095147)</a:t>
            </a:r>
            <a:endParaRPr lang="en-US" dirty="0">
              <a:latin typeface="Inter Bold"/>
              <a:ea typeface="Inter Bold"/>
            </a:endParaRPr>
          </a:p>
          <a:p>
            <a:pPr marL="0" indent="0" algn="ctr">
              <a:lnSpc>
                <a:spcPts val="2850"/>
              </a:lnSpc>
              <a:buNone/>
            </a:pPr>
            <a:r>
              <a:rPr lang="en-US" dirty="0">
                <a:solidFill>
                  <a:srgbClr val="272525"/>
                </a:solidFill>
                <a:latin typeface="Inter Bold"/>
                <a:ea typeface="Inter Bold"/>
                <a:cs typeface="Inter" pitchFamily="34" charset="-120"/>
              </a:rPr>
              <a:t>Department of Electronics Engineering, IIT (BHU) Varanasi</a:t>
            </a:r>
            <a:endParaRPr lang="en-US" dirty="0">
              <a:latin typeface="Inter Bold"/>
              <a:ea typeface="Inter Bold"/>
            </a:endParaRPr>
          </a:p>
          <a:p>
            <a:pPr marL="0" indent="0" algn="ctr">
              <a:lnSpc>
                <a:spcPts val="2850"/>
              </a:lnSpc>
              <a:buNone/>
            </a:pPr>
            <a:r>
              <a:rPr lang="en-US" dirty="0">
                <a:solidFill>
                  <a:srgbClr val="272525"/>
                </a:solidFill>
                <a:latin typeface="Inter Bold"/>
                <a:ea typeface="Inter Bold"/>
                <a:cs typeface="Inter" pitchFamily="34" charset="-120"/>
              </a:rPr>
              <a:t>Guide: </a:t>
            </a:r>
            <a:r>
              <a:rPr lang="en-US" b="1" dirty="0">
                <a:solidFill>
                  <a:srgbClr val="272525"/>
                </a:solidFill>
                <a:latin typeface="Inter Bold"/>
                <a:ea typeface="Inter Bold"/>
                <a:cs typeface="Inter" pitchFamily="34" charset="-120"/>
              </a:rPr>
              <a:t>Prof. P. R. Muduli</a:t>
            </a:r>
            <a:r>
              <a:rPr lang="en-US" dirty="0">
                <a:solidFill>
                  <a:srgbClr val="272525"/>
                </a:solidFill>
                <a:latin typeface="Inter Bold"/>
                <a:ea typeface="Inter Bold"/>
                <a:cs typeface="Inter" pitchFamily="34" charset="-120"/>
              </a:rPr>
              <a:t>, Department of Electronics Engineering, IIT (BHU) Varanasi</a:t>
            </a:r>
          </a:p>
          <a:p>
            <a:pPr algn="ctr">
              <a:lnSpc>
                <a:spcPts val="2850"/>
              </a:lnSpc>
            </a:pPr>
            <a:r>
              <a:rPr lang="en-US" dirty="0">
                <a:solidFill>
                  <a:srgbClr val="272525"/>
                </a:solidFill>
                <a:latin typeface="Inter Bold"/>
                <a:ea typeface="Inter Bold"/>
              </a:rPr>
              <a:t>Project Convener – </a:t>
            </a:r>
            <a:r>
              <a:rPr lang="en-US" b="1" dirty="0">
                <a:solidFill>
                  <a:srgbClr val="272525"/>
                </a:solidFill>
                <a:latin typeface="Inter Bold"/>
                <a:ea typeface="Inter Bold"/>
              </a:rPr>
              <a:t>Dr. Jaya Jha</a:t>
            </a:r>
            <a:r>
              <a:rPr lang="en-US" dirty="0">
                <a:solidFill>
                  <a:srgbClr val="272525"/>
                </a:solidFill>
                <a:latin typeface="Inter Bold"/>
                <a:ea typeface="Inter Bold"/>
              </a:rPr>
              <a:t>, </a:t>
            </a:r>
            <a:r>
              <a:rPr lang="en-US" dirty="0">
                <a:solidFill>
                  <a:srgbClr val="272525"/>
                </a:solidFill>
                <a:latin typeface="Inter Bold"/>
                <a:ea typeface="Inter Bold"/>
                <a:cs typeface="Inter" pitchFamily="34" charset="-120"/>
              </a:rPr>
              <a:t>Department of Electronics Engineering, IIT (BHU) Varanasi</a:t>
            </a:r>
            <a:endParaRPr lang="en-US" dirty="0">
              <a:latin typeface="Inter Bold"/>
              <a:ea typeface="Inter 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56642" y="737949"/>
            <a:ext cx="6677501" cy="675680"/>
          </a:xfrm>
          <a:prstGeom prst="rect">
            <a:avLst/>
          </a:prstGeom>
          <a:noFill/>
          <a:ln/>
        </p:spPr>
        <p:txBody>
          <a:bodyPr wrap="none" lIns="0" tIns="0" rIns="0" bIns="0" rtlCol="0" anchor="t"/>
          <a:lstStyle/>
          <a:p>
            <a:pPr marL="0" indent="0" algn="l">
              <a:lnSpc>
                <a:spcPts val="5300"/>
              </a:lnSpc>
              <a:buNone/>
            </a:pPr>
            <a:r>
              <a:rPr lang="en-US" sz="4250" b="1" dirty="0">
                <a:solidFill>
                  <a:schemeClr val="accent1">
                    <a:lumMod val="75000"/>
                  </a:schemeClr>
                </a:solidFill>
                <a:latin typeface="Inter Bold" pitchFamily="34" charset="0"/>
                <a:ea typeface="Inter Bold" pitchFamily="34" charset="-122"/>
                <a:cs typeface="Inter Bold" pitchFamily="34" charset="-120"/>
              </a:rPr>
              <a:t>Introduction</a:t>
            </a:r>
            <a:r>
              <a:rPr lang="en-US" sz="4250" b="1" dirty="0">
                <a:solidFill>
                  <a:srgbClr val="000000"/>
                </a:solidFill>
                <a:latin typeface="Inter Bold" pitchFamily="34" charset="0"/>
                <a:ea typeface="Inter Bold" pitchFamily="34" charset="-122"/>
                <a:cs typeface="Inter Bold" pitchFamily="34" charset="-120"/>
              </a:rPr>
              <a:t> </a:t>
            </a:r>
            <a:r>
              <a:rPr lang="en-US" sz="4250" b="1" dirty="0">
                <a:solidFill>
                  <a:schemeClr val="accent1">
                    <a:lumMod val="75000"/>
                  </a:schemeClr>
                </a:solidFill>
                <a:latin typeface="Inter Bold" pitchFamily="34" charset="0"/>
                <a:ea typeface="Inter Bold" pitchFamily="34" charset="-122"/>
                <a:cs typeface="Inter Bold" pitchFamily="34" charset="-120"/>
              </a:rPr>
              <a:t>&amp;</a:t>
            </a:r>
            <a:r>
              <a:rPr lang="en-US" sz="4250" b="1" dirty="0">
                <a:solidFill>
                  <a:srgbClr val="000000"/>
                </a:solidFill>
                <a:latin typeface="Inter Bold" pitchFamily="34" charset="0"/>
                <a:ea typeface="Inter Bold" pitchFamily="34" charset="-122"/>
                <a:cs typeface="Inter Bold" pitchFamily="34" charset="-120"/>
              </a:rPr>
              <a:t> </a:t>
            </a:r>
            <a:r>
              <a:rPr lang="en-US" sz="4250" b="1" dirty="0">
                <a:solidFill>
                  <a:schemeClr val="accent1">
                    <a:lumMod val="75000"/>
                  </a:schemeClr>
                </a:solidFill>
                <a:latin typeface="Inter Bold" pitchFamily="34" charset="0"/>
                <a:ea typeface="Inter Bold" pitchFamily="34" charset="-122"/>
                <a:cs typeface="Inter Bold" pitchFamily="34" charset="-120"/>
              </a:rPr>
              <a:t>Objectives</a:t>
            </a:r>
            <a:endParaRPr lang="en-US" sz="4250" dirty="0">
              <a:solidFill>
                <a:schemeClr val="accent1">
                  <a:lumMod val="75000"/>
                </a:schemeClr>
              </a:solidFill>
            </a:endParaRPr>
          </a:p>
        </p:txBody>
      </p:sp>
      <p:sp>
        <p:nvSpPr>
          <p:cNvPr id="3" name="Text 1"/>
          <p:cNvSpPr/>
          <p:nvPr/>
        </p:nvSpPr>
        <p:spPr>
          <a:xfrm>
            <a:off x="756642" y="1928693"/>
            <a:ext cx="2702362" cy="337780"/>
          </a:xfrm>
          <a:prstGeom prst="rect">
            <a:avLst/>
          </a:prstGeom>
          <a:noFill/>
          <a:ln/>
        </p:spPr>
        <p:txBody>
          <a:bodyPr wrap="none" lIns="0" tIns="0" rIns="0" bIns="0" rtlCol="0" anchor="t"/>
          <a:lstStyle/>
          <a:p>
            <a:pPr marL="0" indent="0" algn="l">
              <a:lnSpc>
                <a:spcPts val="2650"/>
              </a:lnSpc>
              <a:buNone/>
            </a:pPr>
            <a:r>
              <a:rPr lang="en-US" sz="2100" b="1" dirty="0">
                <a:solidFill>
                  <a:srgbClr val="000000"/>
                </a:solidFill>
                <a:latin typeface="Inter Bold" pitchFamily="34" charset="0"/>
                <a:ea typeface="Inter Bold" pitchFamily="34" charset="-122"/>
                <a:cs typeface="Inter Bold" pitchFamily="34" charset="-120"/>
              </a:rPr>
              <a:t>Project Overview</a:t>
            </a:r>
            <a:endParaRPr lang="en-US" sz="2100" dirty="0"/>
          </a:p>
        </p:txBody>
      </p:sp>
      <p:sp>
        <p:nvSpPr>
          <p:cNvPr id="4" name="Text 2"/>
          <p:cNvSpPr/>
          <p:nvPr/>
        </p:nvSpPr>
        <p:spPr>
          <a:xfrm>
            <a:off x="756642" y="2472452"/>
            <a:ext cx="6977063" cy="1688902"/>
          </a:xfrm>
          <a:prstGeom prst="rect">
            <a:avLst/>
          </a:prstGeom>
          <a:noFill/>
          <a:ln/>
        </p:spPr>
        <p:txBody>
          <a:bodyPr wrap="square" lIns="0" tIns="0" rIns="0" bIns="0" rtlCol="0" anchor="t"/>
          <a:lstStyle/>
          <a:p>
            <a:pPr marL="0" indent="0" algn="just">
              <a:lnSpc>
                <a:spcPts val="2650"/>
              </a:lnSpc>
              <a:buNone/>
            </a:pPr>
            <a:r>
              <a:rPr lang="en-US" sz="1700" dirty="0">
                <a:solidFill>
                  <a:srgbClr val="272525"/>
                </a:solidFill>
                <a:latin typeface="Inter" pitchFamily="34" charset="0"/>
                <a:ea typeface="Inter" pitchFamily="34" charset="-122"/>
                <a:cs typeface="Inter" pitchFamily="34" charset="-120"/>
              </a:rPr>
              <a:t>Radar signal detection in spectrogram representations presents significant challenges due to low signal-to-noise ratios, variability in signal structure, and the presence of small, localized patterns. This work adopts a dual-perspective approach combining interpretability and performance to address these challenges systematically.</a:t>
            </a:r>
            <a:endParaRPr lang="en-US" sz="1700" dirty="0"/>
          </a:p>
        </p:txBody>
      </p:sp>
      <p:sp>
        <p:nvSpPr>
          <p:cNvPr id="5" name="Text 3"/>
          <p:cNvSpPr/>
          <p:nvPr/>
        </p:nvSpPr>
        <p:spPr>
          <a:xfrm>
            <a:off x="756642" y="4367332"/>
            <a:ext cx="2714387" cy="337780"/>
          </a:xfrm>
          <a:prstGeom prst="rect">
            <a:avLst/>
          </a:prstGeom>
          <a:noFill/>
          <a:ln/>
        </p:spPr>
        <p:txBody>
          <a:bodyPr wrap="none" lIns="0" tIns="0" rIns="0" bIns="0" rtlCol="0" anchor="t"/>
          <a:lstStyle/>
          <a:p>
            <a:pPr marL="0" indent="0" algn="l">
              <a:lnSpc>
                <a:spcPts val="2650"/>
              </a:lnSpc>
              <a:buNone/>
            </a:pPr>
            <a:r>
              <a:rPr lang="en-US" sz="2100" b="1" dirty="0">
                <a:solidFill>
                  <a:srgbClr val="000000"/>
                </a:solidFill>
                <a:latin typeface="Inter Bold" pitchFamily="34" charset="0"/>
                <a:ea typeface="Inter Bold" pitchFamily="34" charset="-122"/>
                <a:cs typeface="Inter Bold" pitchFamily="34" charset="-120"/>
              </a:rPr>
              <a:t>Research Objectives</a:t>
            </a:r>
            <a:endParaRPr lang="en-US" sz="2100" dirty="0"/>
          </a:p>
        </p:txBody>
      </p:sp>
      <p:sp>
        <p:nvSpPr>
          <p:cNvPr id="6" name="Text 4"/>
          <p:cNvSpPr/>
          <p:nvPr/>
        </p:nvSpPr>
        <p:spPr>
          <a:xfrm>
            <a:off x="756642" y="4911090"/>
            <a:ext cx="6977063" cy="2508528"/>
          </a:xfrm>
          <a:prstGeom prst="rect">
            <a:avLst/>
          </a:prstGeom>
          <a:noFill/>
          <a:ln/>
        </p:spPr>
        <p:txBody>
          <a:bodyPr wrap="square" lIns="0" tIns="0" rIns="0" bIns="0" rtlCol="0" anchor="t"/>
          <a:lstStyle/>
          <a:p>
            <a:pPr marL="342900" indent="-342900" algn="just">
              <a:lnSpc>
                <a:spcPts val="2650"/>
              </a:lnSpc>
              <a:buSzPct val="100000"/>
              <a:buChar char="•"/>
            </a:pPr>
            <a:r>
              <a:rPr lang="en-US" sz="1700" dirty="0">
                <a:solidFill>
                  <a:srgbClr val="272525"/>
                </a:solidFill>
                <a:latin typeface="Inter" pitchFamily="34" charset="0"/>
                <a:ea typeface="Inter" pitchFamily="34" charset="-122"/>
                <a:cs typeface="Inter" pitchFamily="34" charset="-120"/>
              </a:rPr>
              <a:t>Conduct comprehensive ablation study to investigate feature hierarchy, spatial resolution, feature fusion, and model capacity using YOLOv8 architecture</a:t>
            </a:r>
            <a:endParaRPr lang="en-US" sz="1700" dirty="0"/>
          </a:p>
          <a:p>
            <a:pPr marL="342900" indent="-342900" algn="just">
              <a:lnSpc>
                <a:spcPts val="2650"/>
              </a:lnSpc>
              <a:buSzPct val="100000"/>
              <a:buChar char="•"/>
            </a:pPr>
            <a:r>
              <a:rPr lang="en-US" sz="1700" dirty="0">
                <a:solidFill>
                  <a:srgbClr val="272525"/>
                </a:solidFill>
                <a:latin typeface="Inter" pitchFamily="34" charset="0"/>
                <a:ea typeface="Inter" pitchFamily="34" charset="-122"/>
                <a:cs typeface="Inter" pitchFamily="34" charset="-120"/>
              </a:rPr>
              <a:t>Propose and validate a hybrid ensemble detection framework for improved performance</a:t>
            </a:r>
            <a:endParaRPr lang="en-US" sz="1700" dirty="0"/>
          </a:p>
          <a:p>
            <a:pPr marL="342900" indent="-342900" algn="just">
              <a:lnSpc>
                <a:spcPts val="2650"/>
              </a:lnSpc>
              <a:buSzPct val="100000"/>
              <a:buChar char="•"/>
            </a:pPr>
            <a:r>
              <a:rPr lang="en-US" sz="1700" dirty="0">
                <a:solidFill>
                  <a:srgbClr val="272525"/>
                </a:solidFill>
                <a:latin typeface="Inter" pitchFamily="34" charset="0"/>
                <a:ea typeface="Inter" pitchFamily="34" charset="-122"/>
                <a:cs typeface="Inter" pitchFamily="34" charset="-120"/>
              </a:rPr>
              <a:t>Demonstrate real-time feasibility via embedded deployment on PYNQ-Z2 platform</a:t>
            </a:r>
            <a:endParaRPr lang="en-US" sz="1700" dirty="0"/>
          </a:p>
        </p:txBody>
      </p:sp>
      <p:sp>
        <p:nvSpPr>
          <p:cNvPr id="7" name="Shape 5"/>
          <p:cNvSpPr/>
          <p:nvPr/>
        </p:nvSpPr>
        <p:spPr>
          <a:xfrm>
            <a:off x="8268772" y="1954530"/>
            <a:ext cx="2703314" cy="2050256"/>
          </a:xfrm>
          <a:prstGeom prst="roundRect">
            <a:avLst>
              <a:gd name="adj" fmla="val 4429"/>
            </a:avLst>
          </a:prstGeom>
          <a:solidFill>
            <a:srgbClr val="FFFFFF"/>
          </a:solidFill>
          <a:ln w="30480">
            <a:solidFill>
              <a:srgbClr val="C0C1D7"/>
            </a:solidFill>
            <a:prstDash val="solid"/>
          </a:ln>
        </p:spPr>
      </p:sp>
      <p:sp>
        <p:nvSpPr>
          <p:cNvPr id="8" name="Text 6"/>
          <p:cNvSpPr/>
          <p:nvPr/>
        </p:nvSpPr>
        <p:spPr>
          <a:xfrm>
            <a:off x="8515350" y="2201108"/>
            <a:ext cx="2210157" cy="337780"/>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Inter Bold" pitchFamily="34" charset="0"/>
                <a:ea typeface="Inter Bold" pitchFamily="34" charset="-122"/>
                <a:cs typeface="Inter Bold" pitchFamily="34" charset="-120"/>
              </a:rPr>
              <a:t>Dataset</a:t>
            </a:r>
            <a:endParaRPr lang="en-US" sz="2100" dirty="0"/>
          </a:p>
        </p:txBody>
      </p:sp>
      <p:sp>
        <p:nvSpPr>
          <p:cNvPr id="9" name="Text 7"/>
          <p:cNvSpPr/>
          <p:nvPr/>
        </p:nvSpPr>
        <p:spPr>
          <a:xfrm>
            <a:off x="8515350" y="2636875"/>
            <a:ext cx="2210157" cy="1121334"/>
          </a:xfrm>
          <a:prstGeom prst="rect">
            <a:avLst/>
          </a:prstGeom>
          <a:noFill/>
          <a:ln/>
        </p:spPr>
        <p:txBody>
          <a:bodyPr wrap="square" lIns="0" tIns="0" rIns="0" bIns="0" rtlCol="0" anchor="t"/>
          <a:lstStyle/>
          <a:p>
            <a:pPr marL="0" indent="0" algn="l">
              <a:lnSpc>
                <a:spcPts val="2650"/>
              </a:lnSpc>
              <a:buNone/>
            </a:pPr>
            <a:r>
              <a:rPr lang="en-US" sz="1700" dirty="0" err="1">
                <a:solidFill>
                  <a:srgbClr val="272525"/>
                </a:solidFill>
                <a:latin typeface="Inter" pitchFamily="34" charset="0"/>
                <a:ea typeface="Inter" pitchFamily="34" charset="-122"/>
                <a:cs typeface="Inter" pitchFamily="34" charset="-120"/>
              </a:rPr>
              <a:t>Raddet</a:t>
            </a:r>
            <a:r>
              <a:rPr lang="en-US" sz="1700" dirty="0">
                <a:solidFill>
                  <a:srgbClr val="272525"/>
                </a:solidFill>
                <a:latin typeface="Inter" pitchFamily="34" charset="0"/>
                <a:ea typeface="Inter" pitchFamily="34" charset="-122"/>
                <a:cs typeface="Inter" pitchFamily="34" charset="-120"/>
              </a:rPr>
              <a:t>-NIST CBRS (NISTSpecMaxHold512)</a:t>
            </a:r>
            <a:endParaRPr lang="en-US" sz="1700" dirty="0"/>
          </a:p>
        </p:txBody>
      </p:sp>
      <p:sp>
        <p:nvSpPr>
          <p:cNvPr id="10" name="Shape 8"/>
          <p:cNvSpPr/>
          <p:nvPr/>
        </p:nvSpPr>
        <p:spPr>
          <a:xfrm>
            <a:off x="11178064" y="1954530"/>
            <a:ext cx="2703314" cy="2050256"/>
          </a:xfrm>
          <a:prstGeom prst="roundRect">
            <a:avLst>
              <a:gd name="adj" fmla="val 4429"/>
            </a:avLst>
          </a:prstGeom>
          <a:solidFill>
            <a:srgbClr val="FFFFFF"/>
          </a:solidFill>
          <a:ln w="30480">
            <a:solidFill>
              <a:srgbClr val="C0C1D7"/>
            </a:solidFill>
            <a:prstDash val="solid"/>
          </a:ln>
        </p:spPr>
      </p:sp>
      <p:sp>
        <p:nvSpPr>
          <p:cNvPr id="11" name="Text 9"/>
          <p:cNvSpPr/>
          <p:nvPr/>
        </p:nvSpPr>
        <p:spPr>
          <a:xfrm>
            <a:off x="11424642" y="2201108"/>
            <a:ext cx="2210157" cy="337780"/>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Inter Bold" pitchFamily="34" charset="0"/>
                <a:ea typeface="Inter Bold" pitchFamily="34" charset="-122"/>
                <a:cs typeface="Inter Bold" pitchFamily="34" charset="-120"/>
              </a:rPr>
              <a:t>Image Size</a:t>
            </a:r>
            <a:endParaRPr lang="en-US" sz="2100" dirty="0"/>
          </a:p>
        </p:txBody>
      </p:sp>
      <p:sp>
        <p:nvSpPr>
          <p:cNvPr id="12" name="Text 10"/>
          <p:cNvSpPr/>
          <p:nvPr/>
        </p:nvSpPr>
        <p:spPr>
          <a:xfrm>
            <a:off x="11424642" y="2744867"/>
            <a:ext cx="2210157" cy="337780"/>
          </a:xfrm>
          <a:prstGeom prst="rect">
            <a:avLst/>
          </a:prstGeom>
          <a:noFill/>
          <a:ln/>
        </p:spPr>
        <p:txBody>
          <a:bodyPr wrap="none" lIns="0" tIns="0" rIns="0" bIns="0" rtlCol="0" anchor="t"/>
          <a:lstStyle/>
          <a:p>
            <a:pPr marL="0" indent="0" algn="l">
              <a:lnSpc>
                <a:spcPts val="2650"/>
              </a:lnSpc>
              <a:buNone/>
            </a:pPr>
            <a:r>
              <a:rPr lang="en-US" sz="1700" dirty="0">
                <a:solidFill>
                  <a:srgbClr val="272525"/>
                </a:solidFill>
                <a:latin typeface="Inter" pitchFamily="34" charset="0"/>
                <a:ea typeface="Inter" pitchFamily="34" charset="-122"/>
                <a:cs typeface="Inter" pitchFamily="34" charset="-120"/>
              </a:rPr>
              <a:t>512×512 spectrogram</a:t>
            </a:r>
            <a:endParaRPr lang="en-US" sz="1700" dirty="0"/>
          </a:p>
        </p:txBody>
      </p:sp>
      <p:sp>
        <p:nvSpPr>
          <p:cNvPr id="13" name="Shape 11"/>
          <p:cNvSpPr/>
          <p:nvPr/>
        </p:nvSpPr>
        <p:spPr>
          <a:xfrm>
            <a:off x="8285490" y="4210763"/>
            <a:ext cx="2703314" cy="1786950"/>
          </a:xfrm>
          <a:prstGeom prst="roundRect">
            <a:avLst>
              <a:gd name="adj" fmla="val 5302"/>
            </a:avLst>
          </a:prstGeom>
          <a:solidFill>
            <a:srgbClr val="FFFFFF"/>
          </a:solidFill>
          <a:ln w="30480">
            <a:solidFill>
              <a:srgbClr val="C0C1D7"/>
            </a:solidFill>
            <a:prstDash val="solid"/>
          </a:ln>
        </p:spPr>
      </p:sp>
      <p:sp>
        <p:nvSpPr>
          <p:cNvPr id="14" name="Text 12"/>
          <p:cNvSpPr/>
          <p:nvPr/>
        </p:nvSpPr>
        <p:spPr>
          <a:xfrm>
            <a:off x="8363402" y="4433086"/>
            <a:ext cx="2210157" cy="337780"/>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Inter Bold" pitchFamily="34" charset="0"/>
                <a:ea typeface="Inter Bold" pitchFamily="34" charset="-122"/>
                <a:cs typeface="Inter Bold" pitchFamily="34" charset="-120"/>
              </a:rPr>
              <a:t>Classes :</a:t>
            </a:r>
            <a:endParaRPr lang="en-US" sz="2100" dirty="0"/>
          </a:p>
        </p:txBody>
      </p:sp>
      <p:sp>
        <p:nvSpPr>
          <p:cNvPr id="15" name="Text 13"/>
          <p:cNvSpPr/>
          <p:nvPr/>
        </p:nvSpPr>
        <p:spPr>
          <a:xfrm>
            <a:off x="8515350" y="4911091"/>
            <a:ext cx="2210157" cy="765572"/>
          </a:xfrm>
          <a:prstGeom prst="rect">
            <a:avLst/>
          </a:prstGeom>
          <a:noFill/>
          <a:ln/>
        </p:spPr>
        <p:txBody>
          <a:bodyPr wrap="square" lIns="0" tIns="0" rIns="0" bIns="0" rtlCol="0" anchor="t"/>
          <a:lstStyle/>
          <a:p>
            <a:pPr marL="0" indent="0" algn="l">
              <a:lnSpc>
                <a:spcPts val="2650"/>
              </a:lnSpc>
              <a:buNone/>
            </a:pPr>
            <a:endParaRPr lang="en-US" sz="1700" dirty="0"/>
          </a:p>
        </p:txBody>
      </p:sp>
      <p:sp>
        <p:nvSpPr>
          <p:cNvPr id="16" name="Shape 14"/>
          <p:cNvSpPr/>
          <p:nvPr/>
        </p:nvSpPr>
        <p:spPr>
          <a:xfrm>
            <a:off x="11178064" y="4210763"/>
            <a:ext cx="2703314" cy="1786949"/>
          </a:xfrm>
          <a:prstGeom prst="roundRect">
            <a:avLst>
              <a:gd name="adj" fmla="val 5302"/>
            </a:avLst>
          </a:prstGeom>
          <a:solidFill>
            <a:srgbClr val="FFFFFF"/>
          </a:solidFill>
          <a:ln w="30480">
            <a:solidFill>
              <a:srgbClr val="C0C1D7"/>
            </a:solidFill>
            <a:prstDash val="solid"/>
          </a:ln>
        </p:spPr>
      </p:sp>
      <p:sp>
        <p:nvSpPr>
          <p:cNvPr id="17" name="Text 15"/>
          <p:cNvSpPr/>
          <p:nvPr/>
        </p:nvSpPr>
        <p:spPr>
          <a:xfrm>
            <a:off x="11424642" y="4457343"/>
            <a:ext cx="2210157" cy="675561"/>
          </a:xfrm>
          <a:prstGeom prst="rect">
            <a:avLst/>
          </a:prstGeom>
          <a:noFill/>
          <a:ln/>
        </p:spPr>
        <p:txBody>
          <a:bodyPr wrap="square" lIns="0" tIns="0" rIns="0" bIns="0" rtlCol="0" anchor="t"/>
          <a:lstStyle/>
          <a:p>
            <a:pPr marL="0" indent="0" algn="l">
              <a:lnSpc>
                <a:spcPts val="2650"/>
              </a:lnSpc>
              <a:buNone/>
            </a:pPr>
            <a:r>
              <a:rPr lang="en-US" sz="2100" b="1" dirty="0">
                <a:solidFill>
                  <a:srgbClr val="272525"/>
                </a:solidFill>
                <a:latin typeface="Inter Bold" pitchFamily="34" charset="0"/>
                <a:ea typeface="Inter Bold" pitchFamily="34" charset="-122"/>
                <a:cs typeface="Inter Bold" pitchFamily="34" charset="-120"/>
              </a:rPr>
              <a:t>Ensemble mAP50</a:t>
            </a:r>
            <a:endParaRPr lang="en-US" sz="2100" dirty="0"/>
          </a:p>
        </p:txBody>
      </p:sp>
      <p:sp>
        <p:nvSpPr>
          <p:cNvPr id="18" name="Text 16"/>
          <p:cNvSpPr/>
          <p:nvPr/>
        </p:nvSpPr>
        <p:spPr>
          <a:xfrm>
            <a:off x="11424642" y="5338882"/>
            <a:ext cx="2210157" cy="337780"/>
          </a:xfrm>
          <a:prstGeom prst="rect">
            <a:avLst/>
          </a:prstGeom>
          <a:noFill/>
          <a:ln/>
        </p:spPr>
        <p:txBody>
          <a:bodyPr wrap="none" lIns="0" tIns="0" rIns="0" bIns="0" rtlCol="0" anchor="t"/>
          <a:lstStyle/>
          <a:p>
            <a:pPr marL="0" indent="0" algn="l">
              <a:lnSpc>
                <a:spcPts val="2650"/>
              </a:lnSpc>
              <a:buNone/>
            </a:pPr>
            <a:r>
              <a:rPr lang="en-US" sz="1700" dirty="0">
                <a:solidFill>
                  <a:srgbClr val="272525"/>
                </a:solidFill>
                <a:latin typeface="Inter" pitchFamily="34" charset="0"/>
                <a:ea typeface="Inter" pitchFamily="34" charset="-122"/>
                <a:cs typeface="Inter" pitchFamily="34" charset="-120"/>
              </a:rPr>
              <a:t>94.36</a:t>
            </a:r>
            <a:endParaRPr lang="en-US" sz="1700" dirty="0"/>
          </a:p>
        </p:txBody>
      </p:sp>
      <p:sp>
        <p:nvSpPr>
          <p:cNvPr id="19" name="TextBox 18"/>
          <p:cNvSpPr txBox="1"/>
          <p:nvPr/>
        </p:nvSpPr>
        <p:spPr>
          <a:xfrm>
            <a:off x="9547316" y="4426408"/>
            <a:ext cx="1026243" cy="1477328"/>
          </a:xfrm>
          <a:prstGeom prst="rect">
            <a:avLst/>
          </a:prstGeom>
          <a:noFill/>
        </p:spPr>
        <p:txBody>
          <a:bodyPr wrap="none" rtlCol="0">
            <a:spAutoFit/>
          </a:bodyPr>
          <a:lstStyle/>
          <a:p>
            <a:r>
              <a:rPr lang="en-US" dirty="0"/>
              <a:t>1)PON#1</a:t>
            </a:r>
          </a:p>
          <a:p>
            <a:r>
              <a:rPr lang="en-US" dirty="0"/>
              <a:t>2)PON#2</a:t>
            </a:r>
          </a:p>
          <a:p>
            <a:r>
              <a:rPr lang="en-US" dirty="0"/>
              <a:t>3)Q3N#1</a:t>
            </a:r>
          </a:p>
          <a:p>
            <a:r>
              <a:rPr lang="en-US" dirty="0"/>
              <a:t>4)Q3N#2</a:t>
            </a:r>
          </a:p>
          <a:p>
            <a:r>
              <a:rPr lang="en-US" dirty="0"/>
              <a:t>5)Q3N#3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4" name="Text 1"/>
          <p:cNvSpPr/>
          <p:nvPr/>
        </p:nvSpPr>
        <p:spPr>
          <a:xfrm>
            <a:off x="793790" y="675799"/>
            <a:ext cx="5670590" cy="708779"/>
          </a:xfrm>
          <a:prstGeom prst="rect">
            <a:avLst/>
          </a:prstGeom>
          <a:noFill/>
          <a:ln/>
        </p:spPr>
        <p:txBody>
          <a:bodyPr wrap="none" lIns="0" tIns="0" rIns="0" bIns="0" rtlCol="0" anchor="t"/>
          <a:lstStyle/>
          <a:p>
            <a:pPr marL="0" indent="0" algn="l">
              <a:lnSpc>
                <a:spcPts val="5550"/>
              </a:lnSpc>
              <a:buNone/>
            </a:pPr>
            <a:r>
              <a:rPr lang="en-US" sz="4450" b="1" dirty="0">
                <a:solidFill>
                  <a:schemeClr val="accent1">
                    <a:lumMod val="75000"/>
                  </a:schemeClr>
                </a:solidFill>
                <a:latin typeface="Inter Bold" pitchFamily="34" charset="0"/>
                <a:ea typeface="Inter Bold" pitchFamily="34" charset="-122"/>
                <a:cs typeface="Inter Bold" pitchFamily="34" charset="-120"/>
              </a:rPr>
              <a:t>RADDET-NIST CBRS Dataset</a:t>
            </a:r>
            <a:endParaRPr lang="en-US" sz="4450" dirty="0">
              <a:solidFill>
                <a:schemeClr val="accent1">
                  <a:lumMod val="75000"/>
                </a:schemeClr>
              </a:solidFill>
            </a:endParaRPr>
          </a:p>
        </p:txBody>
      </p:sp>
      <p:sp>
        <p:nvSpPr>
          <p:cNvPr id="5" name="Text 2"/>
          <p:cNvSpPr/>
          <p:nvPr/>
        </p:nvSpPr>
        <p:spPr>
          <a:xfrm>
            <a:off x="793790" y="1724739"/>
            <a:ext cx="7556421" cy="1814513"/>
          </a:xfrm>
          <a:prstGeom prst="rect">
            <a:avLst/>
          </a:prstGeom>
          <a:noFill/>
          <a:ln/>
        </p:spPr>
        <p:txBody>
          <a:bodyPr wrap="square" lIns="0" tIns="0" rIns="0" bIns="0" rtlCol="0" anchor="t"/>
          <a:lstStyle/>
          <a:p>
            <a:pPr marL="0" indent="0" algn="just">
              <a:lnSpc>
                <a:spcPts val="2850"/>
              </a:lnSpc>
              <a:buNone/>
            </a:pPr>
            <a:r>
              <a:rPr lang="en-US" sz="1750" dirty="0">
                <a:solidFill>
                  <a:srgbClr val="272525"/>
                </a:solidFill>
                <a:latin typeface="Inter" pitchFamily="34" charset="0"/>
                <a:ea typeface="Inter" pitchFamily="34" charset="-122"/>
                <a:cs typeface="Inter" pitchFamily="34" charset="-120"/>
              </a:rPr>
              <a:t>The NIST CBRS dataset utilizes the MaxHold spectrogram representation (NISTSpecMaxHold512). Spectrograms are derived from radar signals in the CBRS band using a max-hold operation, which emphasizes persistent signal components over time, making transient radar signals visible as localized patterns.</a:t>
            </a:r>
            <a:endParaRPr lang="en-US" sz="1750" dirty="0"/>
          </a:p>
        </p:txBody>
      </p:sp>
      <p:sp>
        <p:nvSpPr>
          <p:cNvPr id="6" name="Text 3"/>
          <p:cNvSpPr/>
          <p:nvPr/>
        </p:nvSpPr>
        <p:spPr>
          <a:xfrm>
            <a:off x="793790" y="3794403"/>
            <a:ext cx="7556421" cy="1814513"/>
          </a:xfrm>
          <a:prstGeom prst="rect">
            <a:avLst/>
          </a:prstGeom>
          <a:noFill/>
          <a:ln/>
        </p:spPr>
        <p:txBody>
          <a:bodyPr wrap="square" lIns="0" tIns="0" rIns="0" bIns="0" rtlCol="0" anchor="t"/>
          <a:lstStyle/>
          <a:p>
            <a:pPr marL="0" indent="0" algn="just">
              <a:lnSpc>
                <a:spcPts val="2850"/>
              </a:lnSpc>
              <a:buNone/>
            </a:pPr>
            <a:r>
              <a:rPr lang="en-US" sz="1750" dirty="0">
                <a:solidFill>
                  <a:srgbClr val="272525"/>
                </a:solidFill>
                <a:latin typeface="Inter" pitchFamily="34" charset="0"/>
                <a:ea typeface="Inter" pitchFamily="34" charset="-122"/>
                <a:cs typeface="Inter" pitchFamily="34" charset="-120"/>
              </a:rPr>
              <a:t>Each sample is a 512×512 image where radar signals appear as localized patterns in the time–frequency domain. The dataset includes multiple radar classes — P0N and Q3N variants — with precise bounding box annotations. It is divided into training, validation, and test sets using a standard supervised learning protocol.</a:t>
            </a:r>
          </a:p>
        </p:txBody>
      </p:sp>
      <p:sp>
        <p:nvSpPr>
          <p:cNvPr id="9" name="Text 5"/>
          <p:cNvSpPr/>
          <p:nvPr/>
        </p:nvSpPr>
        <p:spPr>
          <a:xfrm>
            <a:off x="2657957" y="4646379"/>
            <a:ext cx="6592491" cy="1088708"/>
          </a:xfrm>
          <a:prstGeom prst="rect">
            <a:avLst/>
          </a:prstGeom>
          <a:noFill/>
          <a:ln/>
        </p:spPr>
        <p:txBody>
          <a:bodyPr wrap="square" lIns="0" tIns="0" rIns="0" bIns="0" rtlCol="0" anchor="t"/>
          <a:lstStyle/>
          <a:p>
            <a:pPr marL="0" indent="0" algn="l">
              <a:lnSpc>
                <a:spcPts val="2850"/>
              </a:lnSpc>
              <a:buNone/>
            </a:pPr>
            <a:endParaRPr lang="en-US" sz="1750" dirty="0"/>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05990" y="3851837"/>
            <a:ext cx="4607459" cy="2881423"/>
          </a:xfrm>
          <a:prstGeom prst="rect">
            <a:avLst/>
          </a:prstGeom>
        </p:spPr>
      </p:pic>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05990" y="1030188"/>
            <a:ext cx="4522382" cy="2436191"/>
          </a:xfrm>
          <a:prstGeom prst="rect">
            <a:avLst/>
          </a:prstGeom>
        </p:spPr>
      </p:pic>
      <p:sp>
        <p:nvSpPr>
          <p:cNvPr id="12" name="TextBox 11"/>
          <p:cNvSpPr txBox="1"/>
          <p:nvPr/>
        </p:nvSpPr>
        <p:spPr>
          <a:xfrm>
            <a:off x="10936912" y="7144240"/>
            <a:ext cx="2998454" cy="369332"/>
          </a:xfrm>
          <a:prstGeom prst="rect">
            <a:avLst/>
          </a:prstGeom>
          <a:noFill/>
        </p:spPr>
        <p:txBody>
          <a:bodyPr wrap="square" rtlCol="0">
            <a:spAutoFit/>
          </a:bodyPr>
          <a:lstStyle/>
          <a:p>
            <a:r>
              <a:rPr lang="en-US" dirty="0">
                <a:latin typeface="Arial" panose="020B0604020202020204" pitchFamily="34" charset="0"/>
                <a:ea typeface="Artifakt Element Heavy" panose="020B0B03050000020004" pitchFamily="34" charset="0"/>
                <a:cs typeface="Arial" panose="020B0604020202020204" pitchFamily="34" charset="0"/>
              </a:rPr>
              <a:t>Fig: Input and Output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81407" y="615315"/>
            <a:ext cx="5582007" cy="697706"/>
          </a:xfrm>
          <a:prstGeom prst="rect">
            <a:avLst/>
          </a:prstGeom>
          <a:noFill/>
          <a:ln/>
        </p:spPr>
        <p:txBody>
          <a:bodyPr wrap="none" lIns="0" tIns="0" rIns="0" bIns="0" rtlCol="0" anchor="t"/>
          <a:lstStyle/>
          <a:p>
            <a:pPr marL="0" indent="0" algn="l">
              <a:lnSpc>
                <a:spcPts val="5450"/>
              </a:lnSpc>
              <a:buNone/>
            </a:pPr>
            <a:r>
              <a:rPr lang="en-US" sz="4350" b="1" dirty="0">
                <a:solidFill>
                  <a:srgbClr val="000000"/>
                </a:solidFill>
                <a:latin typeface="Inter Bold" pitchFamily="34" charset="0"/>
                <a:ea typeface="Inter Bold" pitchFamily="34" charset="-122"/>
                <a:cs typeface="Inter Bold" pitchFamily="34" charset="-120"/>
              </a:rPr>
              <a:t>Methodology</a:t>
            </a:r>
            <a:endParaRPr lang="en-US" sz="4350" dirty="0"/>
          </a:p>
        </p:txBody>
      </p:sp>
      <p:sp>
        <p:nvSpPr>
          <p:cNvPr id="3" name="Text 1"/>
          <p:cNvSpPr/>
          <p:nvPr/>
        </p:nvSpPr>
        <p:spPr>
          <a:xfrm>
            <a:off x="781466" y="1410593"/>
            <a:ext cx="2790944" cy="348853"/>
          </a:xfrm>
          <a:prstGeom prst="rect">
            <a:avLst/>
          </a:prstGeom>
          <a:noFill/>
          <a:ln/>
        </p:spPr>
        <p:txBody>
          <a:bodyPr wrap="none" lIns="0" tIns="0" rIns="0" bIns="0" rtlCol="0" anchor="t"/>
          <a:lstStyle/>
          <a:p>
            <a:pPr marL="0" indent="0" algn="l">
              <a:lnSpc>
                <a:spcPts val="2700"/>
              </a:lnSpc>
              <a:buNone/>
            </a:pPr>
            <a:r>
              <a:rPr lang="en-US" sz="2150" b="1" dirty="0">
                <a:solidFill>
                  <a:srgbClr val="000000"/>
                </a:solidFill>
                <a:latin typeface="Inter Bold" pitchFamily="34" charset="0"/>
                <a:ea typeface="Inter Bold" pitchFamily="34" charset="-122"/>
                <a:cs typeface="Inter Bold" pitchFamily="34" charset="-120"/>
              </a:rPr>
              <a:t>Model Architecture</a:t>
            </a:r>
            <a:endParaRPr lang="en-US" sz="2150" dirty="0"/>
          </a:p>
        </p:txBody>
      </p:sp>
      <mc:AlternateContent xmlns:mc="http://schemas.openxmlformats.org/markup-compatibility/2006" xmlns:a14="http://schemas.microsoft.com/office/drawing/2010/main">
        <mc:Choice Requires="a14">
          <p:sp>
            <p:nvSpPr>
              <p:cNvPr id="4" name="Text 2"/>
              <p:cNvSpPr/>
              <p:nvPr/>
            </p:nvSpPr>
            <p:spPr>
              <a:xfrm>
                <a:off x="781466" y="2358150"/>
                <a:ext cx="6261497" cy="708660"/>
              </a:xfrm>
              <a:prstGeom prst="rect">
                <a:avLst/>
              </a:prstGeom>
              <a:noFill/>
              <a:ln/>
            </p:spPr>
            <p:txBody>
              <a:bodyPr wrap="square" lIns="0" tIns="0" rIns="0" bIns="0" rtlCol="0" anchor="t"/>
              <a:lstStyle/>
              <a:p>
                <a:pPr marL="0" indent="0" algn="just">
                  <a:lnSpc>
                    <a:spcPts val="2750"/>
                  </a:lnSpc>
                  <a:buNone/>
                </a:pPr>
                <a:r>
                  <a:rPr lang="en-US" sz="1750" dirty="0">
                    <a:solidFill>
                      <a:srgbClr val="272525"/>
                    </a:solidFill>
                    <a:latin typeface="Inter" pitchFamily="34" charset="0"/>
                    <a:ea typeface="Inter" pitchFamily="34" charset="-122"/>
                    <a:cs typeface="Inter" pitchFamily="34" charset="-120"/>
                  </a:rPr>
                  <a:t>The model learns a mapping from spectrogram </a:t>
                </a:r>
                <a14:m>
                  <m:oMath xmlns:m="http://schemas.openxmlformats.org/officeDocument/2006/math">
                    <a:fld id="{825F15A7-03F4-43D7-82C5-3E23DA2F108C}" type="mathplaceholder">
                      <a:rPr lang="en-US" sz="1750" i="1" smtClean="0">
                        <a:solidFill>
                          <a:srgbClr val="272525"/>
                        </a:solidFill>
                        <a:latin typeface="Cambria Math" panose="02040503050406030204" pitchFamily="18" charset="0"/>
                        <a:ea typeface="Inter" pitchFamily="34" charset="-122"/>
                      </a:rPr>
                      <a:t>Type equation here.</a:t>
                    </a:fld>
                    <m:r>
                      <a:rPr lang="en-US" sz="1750" b="0" i="1" smtClean="0">
                        <a:solidFill>
                          <a:srgbClr val="272525"/>
                        </a:solidFill>
                        <a:latin typeface="Cambria Math" panose="02040503050406030204" pitchFamily="18" charset="0"/>
                        <a:ea typeface="Inter" pitchFamily="34" charset="-122"/>
                      </a:rPr>
                      <m:t>  </m:t>
                    </m:r>
                    <m:r>
                      <a:rPr lang="en-US" sz="1750" i="1" dirty="0" smtClean="0">
                        <a:solidFill>
                          <a:srgbClr val="272525"/>
                        </a:solidFill>
                        <a:latin typeface="Cambria Math" panose="02040503050406030204" pitchFamily="18" charset="0"/>
                        <a:ea typeface="Inter" pitchFamily="34" charset="-122"/>
                        <a:cs typeface="Inter" pitchFamily="34" charset="-120"/>
                      </a:rPr>
                      <m:t>𝑆</m:t>
                    </m:r>
                    <m:r>
                      <a:rPr lang="en-US" sz="1750" i="1" dirty="0">
                        <a:solidFill>
                          <a:srgbClr val="272525"/>
                        </a:solidFill>
                        <a:latin typeface="Cambria Math" panose="02040503050406030204" pitchFamily="18" charset="0"/>
                        <a:ea typeface="Inter" pitchFamily="34" charset="-122"/>
                        <a:cs typeface="Inter" pitchFamily="34" charset="-120"/>
                      </a:rPr>
                      <m:t>∈</m:t>
                    </m:r>
                    <m:sSup>
                      <m:sSupPr>
                        <m:ctrlPr>
                          <a:rPr lang="en-US" sz="1750" i="1" dirty="0">
                            <a:solidFill>
                              <a:srgbClr val="272525"/>
                            </a:solidFill>
                            <a:latin typeface="Cambria Math" panose="02040503050406030204" pitchFamily="18" charset="0"/>
                            <a:ea typeface="Inter" pitchFamily="34" charset="-122"/>
                            <a:cs typeface="Inter" pitchFamily="34" charset="-120"/>
                          </a:rPr>
                        </m:ctrlPr>
                      </m:sSupPr>
                      <m:e>
                        <m:r>
                          <a:rPr lang="en-US" sz="1750" i="1" dirty="0">
                            <a:solidFill>
                              <a:srgbClr val="272525"/>
                            </a:solidFill>
                            <a:latin typeface="Cambria Math" panose="02040503050406030204" pitchFamily="18" charset="0"/>
                            <a:ea typeface="Inter" pitchFamily="34" charset="-122"/>
                            <a:cs typeface="Inter" pitchFamily="34" charset="-120"/>
                          </a:rPr>
                          <m:t>ℝ</m:t>
                        </m:r>
                      </m:e>
                      <m:sup>
                        <m:r>
                          <a:rPr lang="en-US" sz="1750" i="1" dirty="0">
                            <a:solidFill>
                              <a:srgbClr val="272525"/>
                            </a:solidFill>
                            <a:latin typeface="Cambria Math" panose="02040503050406030204" pitchFamily="18" charset="0"/>
                            <a:ea typeface="Inter" pitchFamily="34" charset="-122"/>
                            <a:cs typeface="Inter" pitchFamily="34" charset="-120"/>
                          </a:rPr>
                          <m:t>ℍ</m:t>
                        </m:r>
                        <m:r>
                          <a:rPr lang="en-US" sz="1750" i="1" dirty="0">
                            <a:solidFill>
                              <a:srgbClr val="272525"/>
                            </a:solidFill>
                            <a:latin typeface="Cambria Math" panose="02040503050406030204" pitchFamily="18" charset="0"/>
                            <a:ea typeface="Inter" pitchFamily="34" charset="-122"/>
                            <a:cs typeface="Inter" pitchFamily="34" charset="-120"/>
                          </a:rPr>
                          <m:t>×</m:t>
                        </m:r>
                        <m:r>
                          <a:rPr lang="en-US" sz="1750" i="1" dirty="0">
                            <a:solidFill>
                              <a:srgbClr val="272525"/>
                            </a:solidFill>
                            <a:latin typeface="Cambria Math" panose="02040503050406030204" pitchFamily="18" charset="0"/>
                            <a:ea typeface="Inter" pitchFamily="34" charset="-122"/>
                            <a:cs typeface="Inter" pitchFamily="34" charset="-120"/>
                          </a:rPr>
                          <m:t>𝕎</m:t>
                        </m:r>
                      </m:sup>
                    </m:sSup>
                  </m:oMath>
                </a14:m>
                <a:r>
                  <a:rPr lang="en-US" sz="1750" dirty="0">
                    <a:solidFill>
                      <a:srgbClr val="272525"/>
                    </a:solidFill>
                    <a:latin typeface="Inter" pitchFamily="34" charset="0"/>
                    <a:ea typeface="Inter" pitchFamily="34" charset="-122"/>
                    <a:cs typeface="Inter" pitchFamily="34" charset="-120"/>
                  </a:rPr>
                  <a:t> to a set of detections </a:t>
                </a:r>
              </a:p>
              <a:p>
                <a:pPr marL="0" indent="0" algn="just">
                  <a:lnSpc>
                    <a:spcPts val="2750"/>
                  </a:lnSpc>
                  <a:buNone/>
                </a:pPr>
                <a14:m>
                  <m:oMathPara xmlns:m="http://schemas.openxmlformats.org/officeDocument/2006/math">
                    <m:oMathParaPr>
                      <m:jc m:val="centerGroup"/>
                    </m:oMathParaPr>
                    <m:oMath xmlns:m="http://schemas.openxmlformats.org/officeDocument/2006/math">
                      <m:r>
                        <a:rPr lang="en-US" sz="1750" i="1" dirty="0" smtClean="0">
                          <a:solidFill>
                            <a:srgbClr val="272525"/>
                          </a:solidFill>
                          <a:latin typeface="Cambria Math" panose="02040503050406030204" pitchFamily="18" charset="0"/>
                          <a:ea typeface="Inter" pitchFamily="34" charset="-122"/>
                          <a:cs typeface="Inter" pitchFamily="34" charset="-120"/>
                        </a:rPr>
                        <m:t>𝐷</m:t>
                      </m:r>
                      <m:r>
                        <a:rPr lang="en-US" sz="1750" i="1" dirty="0" smtClean="0">
                          <a:solidFill>
                            <a:srgbClr val="272525"/>
                          </a:solidFill>
                          <a:latin typeface="Cambria Math" panose="02040503050406030204" pitchFamily="18" charset="0"/>
                          <a:ea typeface="Inter" pitchFamily="34" charset="-122"/>
                          <a:cs typeface="Inter" pitchFamily="34" charset="-120"/>
                        </a:rPr>
                        <m:t>=</m:t>
                      </m:r>
                      <m:r>
                        <m:rPr>
                          <m:lit/>
                        </m:rPr>
                        <a:rPr lang="en-US" sz="1750" i="1" dirty="0">
                          <a:solidFill>
                            <a:srgbClr val="272525"/>
                          </a:solidFill>
                          <a:latin typeface="Cambria Math" panose="02040503050406030204" pitchFamily="18" charset="0"/>
                          <a:ea typeface="Inter" pitchFamily="34" charset="-122"/>
                          <a:cs typeface="Inter" pitchFamily="34" charset="-120"/>
                        </a:rPr>
                        <m:t>{</m:t>
                      </m:r>
                      <m:d>
                        <m:dPr>
                          <m:ctrlPr>
                            <a:rPr lang="en-US" sz="1750" i="1" dirty="0" smtClean="0">
                              <a:solidFill>
                                <a:srgbClr val="272525"/>
                              </a:solidFill>
                              <a:latin typeface="Cambria Math" panose="02040503050406030204" pitchFamily="18" charset="0"/>
                              <a:ea typeface="Inter" pitchFamily="34" charset="-122"/>
                              <a:cs typeface="Inter" pitchFamily="34" charset="-120"/>
                            </a:rPr>
                          </m:ctrlPr>
                        </m:dPr>
                        <m:e>
                          <m:r>
                            <a:rPr lang="en-US" sz="1750" i="1" dirty="0" smtClean="0">
                              <a:solidFill>
                                <a:srgbClr val="272525"/>
                              </a:solidFill>
                              <a:latin typeface="Cambria Math" panose="02040503050406030204" pitchFamily="18" charset="0"/>
                              <a:ea typeface="Inter" pitchFamily="34" charset="-122"/>
                            </a:rPr>
                            <m:t>𝑏</m:t>
                          </m:r>
                          <m:sSub>
                            <m:sSubPr>
                              <m:ctrlPr>
                                <a:rPr lang="en-US" sz="1750" i="1" dirty="0" smtClean="0">
                                  <a:solidFill>
                                    <a:srgbClr val="272525"/>
                                  </a:solidFill>
                                  <a:latin typeface="Cambria Math" panose="02040503050406030204" pitchFamily="18" charset="0"/>
                                  <a:ea typeface="Inter" pitchFamily="34" charset="-122"/>
                                </a:rPr>
                              </m:ctrlPr>
                            </m:sSubPr>
                            <m:e>
                              <m:r>
                                <a:rPr lang="en-US" sz="1750" i="1" smtClean="0">
                                  <a:solidFill>
                                    <a:srgbClr val="272525"/>
                                  </a:solidFill>
                                  <a:latin typeface="Cambria Math" panose="02040503050406030204" pitchFamily="18" charset="0"/>
                                  <a:ea typeface="Inter" pitchFamily="34" charset="-122"/>
                                </a:rPr>
                                <m:t>.</m:t>
                              </m:r>
                            </m:e>
                            <m:sub>
                              <m:r>
                                <a:rPr lang="en-US" sz="1750" i="1" dirty="0">
                                  <a:solidFill>
                                    <a:srgbClr val="272525"/>
                                  </a:solidFill>
                                  <a:latin typeface="Cambria Math" panose="02040503050406030204" pitchFamily="18" charset="0"/>
                                  <a:ea typeface="Inter" pitchFamily="34" charset="-122"/>
                                </a:rPr>
                                <m:t>𝑖</m:t>
                              </m:r>
                            </m:sub>
                          </m:sSub>
                          <m:r>
                            <a:rPr lang="en-US" sz="1750" i="1" dirty="0">
                              <a:solidFill>
                                <a:srgbClr val="272525"/>
                              </a:solidFill>
                              <a:latin typeface="Cambria Math" panose="02040503050406030204" pitchFamily="18" charset="0"/>
                              <a:ea typeface="Inter" pitchFamily="34" charset="-122"/>
                            </a:rPr>
                            <m:t>,</m:t>
                          </m:r>
                          <m:sSub>
                            <m:sSubPr>
                              <m:ctrlPr>
                                <a:rPr lang="en-US" sz="1750" i="1" dirty="0">
                                  <a:solidFill>
                                    <a:srgbClr val="272525"/>
                                  </a:solidFill>
                                  <a:latin typeface="Cambria Math" panose="02040503050406030204" pitchFamily="18" charset="0"/>
                                  <a:ea typeface="Inter" pitchFamily="34" charset="-122"/>
                                </a:rPr>
                              </m:ctrlPr>
                            </m:sSubPr>
                            <m:e>
                              <m:r>
                                <a:rPr lang="en-US" sz="1750" i="1" dirty="0">
                                  <a:solidFill>
                                    <a:srgbClr val="272525"/>
                                  </a:solidFill>
                                  <a:latin typeface="Cambria Math" panose="02040503050406030204" pitchFamily="18" charset="0"/>
                                  <a:ea typeface="Inter" pitchFamily="34" charset="-122"/>
                                </a:rPr>
                                <m:t>𝑐</m:t>
                              </m:r>
                            </m:e>
                            <m:sub>
                              <m:r>
                                <a:rPr lang="en-US" sz="1750" i="1" dirty="0">
                                  <a:solidFill>
                                    <a:srgbClr val="272525"/>
                                  </a:solidFill>
                                  <a:latin typeface="Cambria Math" panose="02040503050406030204" pitchFamily="18" charset="0"/>
                                  <a:ea typeface="Inter" pitchFamily="34" charset="-122"/>
                                </a:rPr>
                                <m:t>𝑖</m:t>
                              </m:r>
                            </m:sub>
                          </m:sSub>
                        </m:e>
                      </m:d>
                      <m:r>
                        <m:rPr>
                          <m:lit/>
                        </m:rPr>
                        <a:rPr lang="en-US" sz="1750" i="1" dirty="0">
                          <a:solidFill>
                            <a:srgbClr val="272525"/>
                          </a:solidFill>
                          <a:latin typeface="Cambria Math" panose="02040503050406030204" pitchFamily="18" charset="0"/>
                          <a:ea typeface="Inter" pitchFamily="34" charset="-122"/>
                          <a:cs typeface="Inter" pitchFamily="34" charset="-120"/>
                        </a:rPr>
                        <m:t>}</m:t>
                      </m:r>
                    </m:oMath>
                  </m:oMathPara>
                </a14:m>
                <a:endParaRPr lang="en-US" sz="1750" dirty="0">
                  <a:solidFill>
                    <a:srgbClr val="272525"/>
                  </a:solidFill>
                  <a:latin typeface="Inter" pitchFamily="34" charset="0"/>
                  <a:ea typeface="Inter" pitchFamily="34" charset="-122"/>
                  <a:cs typeface="Inter" pitchFamily="34" charset="-120"/>
                </a:endParaRPr>
              </a:p>
              <a:p>
                <a:pPr marL="0" indent="0" algn="just">
                  <a:lnSpc>
                    <a:spcPts val="2750"/>
                  </a:lnSpc>
                  <a:buNone/>
                </a:pPr>
                <a:endParaRPr lang="en-US" sz="1750" dirty="0"/>
              </a:p>
            </p:txBody>
          </p:sp>
        </mc:Choice>
        <mc:Fallback xmlns="">
          <p:sp>
            <p:nvSpPr>
              <p:cNvPr id="4" name="Text 2"/>
              <p:cNvSpPr>
                <a:spLocks noRot="1" noChangeAspect="1" noMove="1" noResize="1" noEditPoints="1" noAdjustHandles="1" noChangeArrowheads="1" noChangeShapeType="1" noTextEdit="1"/>
              </p:cNvSpPr>
              <p:nvPr/>
            </p:nvSpPr>
            <p:spPr>
              <a:xfrm>
                <a:off x="781466" y="2358150"/>
                <a:ext cx="6261497" cy="708660"/>
              </a:xfrm>
              <a:prstGeom prst="rect">
                <a:avLst/>
              </a:prstGeom>
              <a:blipFill>
                <a:blip r:embed="rId3"/>
                <a:stretch>
                  <a:fillRect l="-2142" t="-862" r="-779" b="-44828"/>
                </a:stretch>
              </a:blip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 3"/>
              <p:cNvSpPr/>
              <p:nvPr/>
            </p:nvSpPr>
            <p:spPr>
              <a:xfrm>
                <a:off x="781407" y="3610808"/>
                <a:ext cx="6261497" cy="1062990"/>
              </a:xfrm>
              <a:prstGeom prst="rect">
                <a:avLst/>
              </a:prstGeom>
              <a:noFill/>
              <a:ln/>
            </p:spPr>
            <p:txBody>
              <a:bodyPr wrap="square" lIns="0" tIns="0" rIns="0" bIns="0" rtlCol="0" anchor="t"/>
              <a:lstStyle/>
              <a:p>
                <a:pPr marL="0" indent="0" algn="just">
                  <a:lnSpc>
                    <a:spcPts val="2750"/>
                  </a:lnSpc>
                  <a:buNone/>
                </a:pPr>
                <a:r>
                  <a:rPr lang="en-US" sz="1750" dirty="0">
                    <a:solidFill>
                      <a:srgbClr val="272525"/>
                    </a:solidFill>
                    <a:latin typeface="Inter" pitchFamily="34" charset="0"/>
                    <a:ea typeface="Inter" pitchFamily="34" charset="-122"/>
                    <a:cs typeface="Inter" pitchFamily="34" charset="-120"/>
                  </a:rPr>
                  <a:t>Multi-scale features are extracted at three levels: </a:t>
                </a:r>
                <a14:m>
                  <m:oMath xmlns:m="http://schemas.openxmlformats.org/officeDocument/2006/math">
                    <m:sSub>
                      <m:sSubPr>
                        <m:ctrlPr>
                          <a:rPr lang="en-US" sz="1750" i="1" dirty="0" smtClean="0">
                            <a:solidFill>
                              <a:srgbClr val="272525"/>
                            </a:solidFill>
                            <a:latin typeface="Cambria Math" panose="02040503050406030204" pitchFamily="18" charset="0"/>
                            <a:ea typeface="Inter" pitchFamily="34" charset="-122"/>
                            <a:cs typeface="Inter" pitchFamily="34" charset="-120"/>
                          </a:rPr>
                        </m:ctrlPr>
                      </m:sSubPr>
                      <m:e>
                        <m:r>
                          <a:rPr lang="en-US" sz="1750" i="1" dirty="0" smtClean="0">
                            <a:solidFill>
                              <a:srgbClr val="272525"/>
                            </a:solidFill>
                            <a:latin typeface="Cambria Math" panose="02040503050406030204" pitchFamily="18" charset="0"/>
                            <a:ea typeface="Inter" pitchFamily="34" charset="-122"/>
                            <a:cs typeface="Inter" pitchFamily="34" charset="-120"/>
                          </a:rPr>
                          <m:t>𝐹</m:t>
                        </m:r>
                      </m:e>
                      <m:sub>
                        <m:r>
                          <a:rPr lang="en-US" sz="1750" i="1" dirty="0" smtClean="0">
                            <a:solidFill>
                              <a:srgbClr val="272525"/>
                            </a:solidFill>
                            <a:latin typeface="Cambria Math" panose="02040503050406030204" pitchFamily="18" charset="0"/>
                            <a:ea typeface="Inter" pitchFamily="34" charset="-122"/>
                            <a:cs typeface="Inter" pitchFamily="34" charset="-120"/>
                          </a:rPr>
                          <m:t>3</m:t>
                        </m:r>
                      </m:sub>
                    </m:sSub>
                    <m:r>
                      <a:rPr lang="en-US" sz="1750" i="1" dirty="0" smtClean="0">
                        <a:solidFill>
                          <a:srgbClr val="272525"/>
                        </a:solidFill>
                        <a:latin typeface="Cambria Math" panose="02040503050406030204" pitchFamily="18" charset="0"/>
                        <a:ea typeface="Inter" pitchFamily="34" charset="-122"/>
                        <a:cs typeface="Inter" pitchFamily="34" charset="-120"/>
                      </a:rPr>
                      <m:t>,</m:t>
                    </m:r>
                    <m:sSub>
                      <m:sSubPr>
                        <m:ctrlPr>
                          <a:rPr lang="en-US" sz="1750" i="1" dirty="0" smtClean="0">
                            <a:solidFill>
                              <a:srgbClr val="272525"/>
                            </a:solidFill>
                            <a:latin typeface="Cambria Math" panose="02040503050406030204" pitchFamily="18" charset="0"/>
                            <a:ea typeface="Inter" pitchFamily="34" charset="-122"/>
                            <a:cs typeface="Inter" pitchFamily="34" charset="-120"/>
                          </a:rPr>
                        </m:ctrlPr>
                      </m:sSubPr>
                      <m:e>
                        <m:r>
                          <a:rPr lang="en-US" sz="1750" i="1" dirty="0" smtClean="0">
                            <a:solidFill>
                              <a:srgbClr val="272525"/>
                            </a:solidFill>
                            <a:latin typeface="Cambria Math" panose="02040503050406030204" pitchFamily="18" charset="0"/>
                            <a:ea typeface="Inter" pitchFamily="34" charset="-122"/>
                            <a:cs typeface="Inter" pitchFamily="34" charset="-120"/>
                          </a:rPr>
                          <m:t>𝐹</m:t>
                        </m:r>
                      </m:e>
                      <m:sub>
                        <m:r>
                          <a:rPr lang="en-US" sz="1750" i="1" dirty="0" smtClean="0">
                            <a:solidFill>
                              <a:srgbClr val="272525"/>
                            </a:solidFill>
                            <a:latin typeface="Cambria Math" panose="02040503050406030204" pitchFamily="18" charset="0"/>
                            <a:ea typeface="Inter" pitchFamily="34" charset="-122"/>
                            <a:cs typeface="Inter" pitchFamily="34" charset="-120"/>
                          </a:rPr>
                          <m:t>4</m:t>
                        </m:r>
                      </m:sub>
                    </m:sSub>
                    <m:r>
                      <a:rPr lang="en-US" sz="1750" i="1" dirty="0" smtClean="0">
                        <a:solidFill>
                          <a:srgbClr val="272525"/>
                        </a:solidFill>
                        <a:latin typeface="Cambria Math" panose="02040503050406030204" pitchFamily="18" charset="0"/>
                        <a:ea typeface="Inter" pitchFamily="34" charset="-122"/>
                        <a:cs typeface="Inter" pitchFamily="34" charset="-120"/>
                      </a:rPr>
                      <m:t>,</m:t>
                    </m:r>
                    <m:sSub>
                      <m:sSubPr>
                        <m:ctrlPr>
                          <a:rPr lang="en-US" sz="1750" i="1" dirty="0" smtClean="0">
                            <a:solidFill>
                              <a:srgbClr val="272525"/>
                            </a:solidFill>
                            <a:latin typeface="Cambria Math" panose="02040503050406030204" pitchFamily="18" charset="0"/>
                            <a:ea typeface="Inter" pitchFamily="34" charset="-122"/>
                            <a:cs typeface="Inter" pitchFamily="34" charset="-120"/>
                          </a:rPr>
                        </m:ctrlPr>
                      </m:sSubPr>
                      <m:e>
                        <m:r>
                          <a:rPr lang="en-US" sz="1750" i="1" dirty="0" smtClean="0">
                            <a:solidFill>
                              <a:srgbClr val="272525"/>
                            </a:solidFill>
                            <a:latin typeface="Cambria Math" panose="02040503050406030204" pitchFamily="18" charset="0"/>
                            <a:ea typeface="Inter" pitchFamily="34" charset="-122"/>
                            <a:cs typeface="Inter" pitchFamily="34" charset="-120"/>
                          </a:rPr>
                          <m:t>𝐹</m:t>
                        </m:r>
                      </m:e>
                      <m:sub>
                        <m:r>
                          <a:rPr lang="en-US" sz="1750" i="1" dirty="0" smtClean="0">
                            <a:solidFill>
                              <a:srgbClr val="272525"/>
                            </a:solidFill>
                            <a:latin typeface="Cambria Math" panose="02040503050406030204" pitchFamily="18" charset="0"/>
                            <a:ea typeface="Inter" pitchFamily="34" charset="-122"/>
                            <a:cs typeface="Inter" pitchFamily="34" charset="-120"/>
                          </a:rPr>
                          <m:t>5</m:t>
                        </m:r>
                      </m:sub>
                    </m:sSub>
                  </m:oMath>
                </a14:m>
                <a:r>
                  <a:rPr lang="en-US" sz="1750" dirty="0">
                    <a:solidFill>
                      <a:srgbClr val="272525"/>
                    </a:solidFill>
                    <a:latin typeface="Inter" pitchFamily="34" charset="0"/>
                    <a:ea typeface="Inter" pitchFamily="34" charset="-122"/>
                    <a:cs typeface="Inter" pitchFamily="34" charset="-120"/>
                  </a:rPr>
                  <a:t>(spatial to semantic). The final prediction combines these features:</a:t>
                </a:r>
                <a:endParaRPr lang="en-US" sz="1750" dirty="0"/>
              </a:p>
            </p:txBody>
          </p:sp>
        </mc:Choice>
        <mc:Fallback xmlns="">
          <p:sp>
            <p:nvSpPr>
              <p:cNvPr id="5" name="Text 3"/>
              <p:cNvSpPr>
                <a:spLocks noRot="1" noChangeAspect="1" noMove="1" noResize="1" noEditPoints="1" noAdjustHandles="1" noChangeArrowheads="1" noChangeShapeType="1" noTextEdit="1"/>
              </p:cNvSpPr>
              <p:nvPr/>
            </p:nvSpPr>
            <p:spPr>
              <a:xfrm>
                <a:off x="781407" y="3610808"/>
                <a:ext cx="6261497" cy="1062990"/>
              </a:xfrm>
              <a:prstGeom prst="rect">
                <a:avLst/>
              </a:prstGeom>
              <a:blipFill>
                <a:blip r:embed="rId4"/>
                <a:stretch>
                  <a:fillRect l="-2142" t="-571" r="-2142" b="-9143"/>
                </a:stretch>
              </a:blipFill>
              <a:ln/>
            </p:spPr>
            <p:txBody>
              <a:bodyPr/>
              <a:lstStyle/>
              <a:p>
                <a:r>
                  <a:rPr lang="en-IN">
                    <a:noFill/>
                  </a:rPr>
                  <a:t> </a:t>
                </a:r>
              </a:p>
            </p:txBody>
          </p:sp>
        </mc:Fallback>
      </mc:AlternateContent>
      <p:sp>
        <p:nvSpPr>
          <p:cNvPr id="6" name="Text 4"/>
          <p:cNvSpPr/>
          <p:nvPr/>
        </p:nvSpPr>
        <p:spPr>
          <a:xfrm>
            <a:off x="781407" y="4678680"/>
            <a:ext cx="6261497" cy="387548"/>
          </a:xfrm>
          <a:prstGeom prst="rect">
            <a:avLst/>
          </a:prstGeom>
          <a:noFill/>
          <a:ln/>
        </p:spPr>
        <p:txBody>
          <a:bodyPr wrap="none" lIns="0" tIns="0" rIns="0" bIns="0" rtlCol="0" anchor="t"/>
          <a:lstStyle/>
          <a:p>
            <a:pPr marL="0" indent="0" algn="l">
              <a:lnSpc>
                <a:spcPts val="3100"/>
              </a:lnSpc>
              <a:buNone/>
            </a:pPr>
            <a:endParaRPr lang="en-US" sz="1950" dirty="0"/>
          </a:p>
        </p:txBody>
      </p:sp>
      <p:pic>
        <p:nvPicPr>
          <p:cNvPr id="7" name="Image 0" descr="preencoded.png"/>
          <p:cNvPicPr>
            <a:picLocks noChangeAspect="1"/>
          </p:cNvPicPr>
          <p:nvPr/>
        </p:nvPicPr>
        <p:blipFill>
          <a:blip r:embed="rId5"/>
          <a:stretch>
            <a:fillRect/>
          </a:stretch>
        </p:blipFill>
        <p:spPr>
          <a:xfrm>
            <a:off x="781407" y="4678680"/>
            <a:ext cx="6261497" cy="387548"/>
          </a:xfrm>
          <a:prstGeom prst="rect">
            <a:avLst/>
          </a:prstGeom>
        </p:spPr>
      </p:pic>
      <mc:AlternateContent xmlns:mc="http://schemas.openxmlformats.org/markup-compatibility/2006" xmlns:a14="http://schemas.microsoft.com/office/drawing/2010/main">
        <mc:Choice Requires="a14">
          <p:sp>
            <p:nvSpPr>
              <p:cNvPr id="8" name="Text 5"/>
              <p:cNvSpPr/>
              <p:nvPr/>
            </p:nvSpPr>
            <p:spPr>
              <a:xfrm>
                <a:off x="781407" y="5481220"/>
                <a:ext cx="6261497" cy="354330"/>
              </a:xfrm>
              <a:prstGeom prst="rect">
                <a:avLst/>
              </a:prstGeom>
              <a:noFill/>
              <a:ln/>
            </p:spPr>
            <p:txBody>
              <a:bodyPr wrap="none" lIns="0" tIns="0" rIns="0" bIns="0" rtlCol="0" anchor="t"/>
              <a:lstStyle/>
              <a:p>
                <a:pPr marL="0" indent="0" algn="just">
                  <a:lnSpc>
                    <a:spcPts val="2750"/>
                  </a:lnSpc>
                  <a:buNone/>
                </a:pPr>
                <a:r>
                  <a:rPr lang="en-US" sz="1750" b="1" dirty="0">
                    <a:solidFill>
                      <a:srgbClr val="272525"/>
                    </a:solidFill>
                    <a:latin typeface="Inter" pitchFamily="34" charset="0"/>
                    <a:ea typeface="Inter" pitchFamily="34" charset="-122"/>
                    <a:cs typeface="Inter" pitchFamily="34" charset="-120"/>
                  </a:rPr>
                  <a:t>Loss function:</a:t>
                </a:r>
                <a:r>
                  <a:rPr lang="en-US" sz="1750" dirty="0">
                    <a:solidFill>
                      <a:srgbClr val="272525"/>
                    </a:solidFill>
                    <a:latin typeface="Inter" pitchFamily="34" charset="0"/>
                    <a:ea typeface="Inter" pitchFamily="34" charset="-122"/>
                    <a:cs typeface="Inter" pitchFamily="34" charset="-120"/>
                  </a:rPr>
                  <a:t> </a:t>
                </a:r>
                <a14:m>
                  <m:oMath xmlns:m="http://schemas.openxmlformats.org/officeDocument/2006/math">
                    <m:r>
                      <a:rPr lang="en-US" sz="1750" i="1" dirty="0" smtClean="0">
                        <a:solidFill>
                          <a:srgbClr val="272525"/>
                        </a:solidFill>
                        <a:latin typeface="Cambria Math" panose="02040503050406030204" pitchFamily="18" charset="0"/>
                        <a:ea typeface="Inter" pitchFamily="34" charset="-122"/>
                        <a:cs typeface="Inter" pitchFamily="34" charset="-120"/>
                      </a:rPr>
                      <m:t>𝐿</m:t>
                    </m:r>
                    <m:r>
                      <a:rPr lang="en-US" sz="1750" i="1" dirty="0" smtClean="0">
                        <a:solidFill>
                          <a:srgbClr val="272525"/>
                        </a:solidFill>
                        <a:latin typeface="Cambria Math" panose="02040503050406030204" pitchFamily="18" charset="0"/>
                        <a:ea typeface="Inter" pitchFamily="34" charset="-122"/>
                        <a:cs typeface="Inter" pitchFamily="34" charset="-120"/>
                      </a:rPr>
                      <m:t>=</m:t>
                    </m:r>
                    <m:sSub>
                      <m:sSubPr>
                        <m:ctrlPr>
                          <a:rPr lang="en-US" sz="1750" i="1" dirty="0" smtClean="0">
                            <a:solidFill>
                              <a:srgbClr val="272525"/>
                            </a:solidFill>
                            <a:latin typeface="Cambria Math" panose="02040503050406030204" pitchFamily="18" charset="0"/>
                            <a:ea typeface="Inter" pitchFamily="34" charset="-122"/>
                            <a:cs typeface="Inter" pitchFamily="34" charset="-120"/>
                          </a:rPr>
                        </m:ctrlPr>
                      </m:sSubPr>
                      <m:e>
                        <m:r>
                          <a:rPr lang="en-US" sz="1750" i="1" dirty="0" smtClean="0">
                            <a:solidFill>
                              <a:srgbClr val="272525"/>
                            </a:solidFill>
                            <a:latin typeface="Cambria Math" panose="02040503050406030204" pitchFamily="18" charset="0"/>
                            <a:ea typeface="Inter" pitchFamily="34" charset="-122"/>
                            <a:cs typeface="Inter" pitchFamily="34" charset="-120"/>
                          </a:rPr>
                          <m:t>𝐿</m:t>
                        </m:r>
                      </m:e>
                      <m:sub>
                        <m:r>
                          <a:rPr lang="en-US" sz="1750" i="1" dirty="0" smtClean="0">
                            <a:solidFill>
                              <a:srgbClr val="272525"/>
                            </a:solidFill>
                            <a:latin typeface="Cambria Math" panose="02040503050406030204" pitchFamily="18" charset="0"/>
                            <a:ea typeface="Inter" pitchFamily="34" charset="-122"/>
                            <a:cs typeface="Inter" pitchFamily="34" charset="-120"/>
                          </a:rPr>
                          <m:t>𝑏𝑜𝑥</m:t>
                        </m:r>
                      </m:sub>
                    </m:sSub>
                    <m:r>
                      <a:rPr lang="en-US" sz="1750" i="1" dirty="0" smtClean="0">
                        <a:solidFill>
                          <a:srgbClr val="272525"/>
                        </a:solidFill>
                        <a:latin typeface="Cambria Math" panose="02040503050406030204" pitchFamily="18" charset="0"/>
                        <a:ea typeface="Inter" pitchFamily="34" charset="-122"/>
                        <a:cs typeface="Inter" pitchFamily="34" charset="-120"/>
                      </a:rPr>
                      <m:t>+</m:t>
                    </m:r>
                    <m:sSub>
                      <m:sSubPr>
                        <m:ctrlPr>
                          <a:rPr lang="en-US" sz="1750" i="1" dirty="0" smtClean="0">
                            <a:solidFill>
                              <a:srgbClr val="272525"/>
                            </a:solidFill>
                            <a:latin typeface="Cambria Math" panose="02040503050406030204" pitchFamily="18" charset="0"/>
                            <a:ea typeface="Inter" pitchFamily="34" charset="-122"/>
                            <a:cs typeface="Inter" pitchFamily="34" charset="-120"/>
                          </a:rPr>
                        </m:ctrlPr>
                      </m:sSubPr>
                      <m:e>
                        <m:r>
                          <a:rPr lang="en-US" sz="1750" i="1" dirty="0" smtClean="0">
                            <a:solidFill>
                              <a:srgbClr val="272525"/>
                            </a:solidFill>
                            <a:latin typeface="Cambria Math" panose="02040503050406030204" pitchFamily="18" charset="0"/>
                            <a:ea typeface="Inter" pitchFamily="34" charset="-122"/>
                            <a:cs typeface="Inter" pitchFamily="34" charset="-120"/>
                          </a:rPr>
                          <m:t>𝐿</m:t>
                        </m:r>
                      </m:e>
                      <m:sub>
                        <m:r>
                          <a:rPr lang="en-US" sz="1750" i="1" dirty="0" smtClean="0">
                            <a:solidFill>
                              <a:srgbClr val="272525"/>
                            </a:solidFill>
                            <a:latin typeface="Cambria Math" panose="02040503050406030204" pitchFamily="18" charset="0"/>
                            <a:ea typeface="Inter" pitchFamily="34" charset="-122"/>
                            <a:cs typeface="Inter" pitchFamily="34" charset="-120"/>
                          </a:rPr>
                          <m:t>𝑐𝑙𝑠</m:t>
                        </m:r>
                      </m:sub>
                    </m:sSub>
                    <m:r>
                      <a:rPr lang="en-US" sz="1750" i="1" dirty="0" smtClean="0">
                        <a:solidFill>
                          <a:srgbClr val="272525"/>
                        </a:solidFill>
                        <a:latin typeface="Cambria Math" panose="02040503050406030204" pitchFamily="18" charset="0"/>
                        <a:ea typeface="Inter" pitchFamily="34" charset="-122"/>
                        <a:cs typeface="Inter" pitchFamily="34" charset="-120"/>
                      </a:rPr>
                      <m:t>+</m:t>
                    </m:r>
                    <m:sSub>
                      <m:sSubPr>
                        <m:ctrlPr>
                          <a:rPr lang="en-US" sz="1750" i="1" dirty="0" smtClean="0">
                            <a:solidFill>
                              <a:srgbClr val="272525"/>
                            </a:solidFill>
                            <a:latin typeface="Cambria Math" panose="02040503050406030204" pitchFamily="18" charset="0"/>
                            <a:ea typeface="Inter" pitchFamily="34" charset="-122"/>
                            <a:cs typeface="Inter" pitchFamily="34" charset="-120"/>
                          </a:rPr>
                        </m:ctrlPr>
                      </m:sSubPr>
                      <m:e>
                        <m:r>
                          <a:rPr lang="en-US" sz="1750" i="1" dirty="0" smtClean="0">
                            <a:solidFill>
                              <a:srgbClr val="272525"/>
                            </a:solidFill>
                            <a:latin typeface="Cambria Math" panose="02040503050406030204" pitchFamily="18" charset="0"/>
                            <a:ea typeface="Inter" pitchFamily="34" charset="-122"/>
                            <a:cs typeface="Inter" pitchFamily="34" charset="-120"/>
                          </a:rPr>
                          <m:t>𝐿</m:t>
                        </m:r>
                      </m:e>
                      <m:sub>
                        <m:r>
                          <a:rPr lang="en-US" sz="1750" i="1" dirty="0" smtClean="0">
                            <a:solidFill>
                              <a:srgbClr val="272525"/>
                            </a:solidFill>
                            <a:latin typeface="Cambria Math" panose="02040503050406030204" pitchFamily="18" charset="0"/>
                            <a:ea typeface="Inter" pitchFamily="34" charset="-122"/>
                            <a:cs typeface="Inter" pitchFamily="34" charset="-120"/>
                          </a:rPr>
                          <m:t>𝑜𝑏𝑗</m:t>
                        </m:r>
                      </m:sub>
                    </m:sSub>
                  </m:oMath>
                </a14:m>
                <a:endParaRPr lang="en-US" sz="1750" dirty="0"/>
              </a:p>
            </p:txBody>
          </p:sp>
        </mc:Choice>
        <mc:Fallback xmlns="">
          <p:sp>
            <p:nvSpPr>
              <p:cNvPr id="8" name="Text 5"/>
              <p:cNvSpPr>
                <a:spLocks noRot="1" noChangeAspect="1" noMove="1" noResize="1" noEditPoints="1" noAdjustHandles="1" noChangeArrowheads="1" noChangeShapeType="1" noTextEdit="1"/>
              </p:cNvSpPr>
              <p:nvPr/>
            </p:nvSpPr>
            <p:spPr>
              <a:xfrm>
                <a:off x="781407" y="5481220"/>
                <a:ext cx="6261497" cy="354330"/>
              </a:xfrm>
              <a:prstGeom prst="rect">
                <a:avLst/>
              </a:prstGeom>
              <a:blipFill>
                <a:blip r:embed="rId6"/>
                <a:stretch>
                  <a:fillRect l="-2142" t="-3448" b="-27586"/>
                </a:stretch>
              </a:blipFill>
              <a:ln/>
            </p:spPr>
            <p:txBody>
              <a:bodyPr/>
              <a:lstStyle/>
              <a:p>
                <a:r>
                  <a:rPr lang="en-IN">
                    <a:noFill/>
                  </a:rPr>
                  <a:t> </a:t>
                </a:r>
              </a:p>
            </p:txBody>
          </p:sp>
        </mc:Fallback>
      </mc:AlternateContent>
      <p:sp>
        <p:nvSpPr>
          <p:cNvPr id="9" name="Shape 6"/>
          <p:cNvSpPr/>
          <p:nvPr/>
        </p:nvSpPr>
        <p:spPr>
          <a:xfrm>
            <a:off x="7595116" y="1889879"/>
            <a:ext cx="3020854" cy="2982992"/>
          </a:xfrm>
          <a:prstGeom prst="roundRect">
            <a:avLst>
              <a:gd name="adj" fmla="val 3144"/>
            </a:avLst>
          </a:prstGeom>
          <a:solidFill>
            <a:srgbClr val="DADBF1"/>
          </a:solidFill>
          <a:ln w="7620">
            <a:solidFill>
              <a:srgbClr val="C0C1D7"/>
            </a:solidFill>
            <a:prstDash val="solid"/>
          </a:ln>
        </p:spPr>
      </p:sp>
      <p:sp>
        <p:nvSpPr>
          <p:cNvPr id="10" name="Shape 7"/>
          <p:cNvSpPr/>
          <p:nvPr/>
        </p:nvSpPr>
        <p:spPr>
          <a:xfrm>
            <a:off x="7825978" y="2120741"/>
            <a:ext cx="669846" cy="669846"/>
          </a:xfrm>
          <a:prstGeom prst="roundRect">
            <a:avLst>
              <a:gd name="adj" fmla="val 13649534"/>
            </a:avLst>
          </a:prstGeom>
          <a:solidFill>
            <a:srgbClr val="4950BC"/>
          </a:solidFill>
          <a:ln/>
        </p:spPr>
      </p:sp>
      <p:pic>
        <p:nvPicPr>
          <p:cNvPr id="11" name="Image 1"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010168" y="2304931"/>
            <a:ext cx="301347" cy="301347"/>
          </a:xfrm>
          <a:prstGeom prst="rect">
            <a:avLst/>
          </a:prstGeom>
        </p:spPr>
      </p:pic>
      <p:sp>
        <p:nvSpPr>
          <p:cNvPr id="12" name="Text 8"/>
          <p:cNvSpPr/>
          <p:nvPr/>
        </p:nvSpPr>
        <p:spPr>
          <a:xfrm>
            <a:off x="7825978" y="3010376"/>
            <a:ext cx="2559129" cy="348853"/>
          </a:xfrm>
          <a:prstGeom prst="rect">
            <a:avLst/>
          </a:prstGeom>
          <a:noFill/>
          <a:ln/>
        </p:spPr>
        <p:txBody>
          <a:bodyPr wrap="none" lIns="0" tIns="0" rIns="0" bIns="0" rtlCol="0" anchor="t"/>
          <a:lstStyle/>
          <a:p>
            <a:pPr marL="0" indent="0" algn="l">
              <a:lnSpc>
                <a:spcPts val="2700"/>
              </a:lnSpc>
              <a:buNone/>
            </a:pPr>
            <a:r>
              <a:rPr lang="en-US" sz="2150" b="1" dirty="0">
                <a:solidFill>
                  <a:srgbClr val="272525"/>
                </a:solidFill>
                <a:latin typeface="Inter Bold" pitchFamily="34" charset="0"/>
                <a:ea typeface="Inter Bold" pitchFamily="34" charset="-122"/>
                <a:cs typeface="Inter Bold" pitchFamily="34" charset="-120"/>
              </a:rPr>
              <a:t>F3 Features</a:t>
            </a:r>
            <a:endParaRPr lang="en-US" sz="2150" dirty="0"/>
          </a:p>
        </p:txBody>
      </p:sp>
      <p:sp>
        <p:nvSpPr>
          <p:cNvPr id="13" name="Text 9"/>
          <p:cNvSpPr/>
          <p:nvPr/>
        </p:nvSpPr>
        <p:spPr>
          <a:xfrm>
            <a:off x="7825978" y="3579019"/>
            <a:ext cx="2559129" cy="1062990"/>
          </a:xfrm>
          <a:prstGeom prst="rect">
            <a:avLst/>
          </a:prstGeom>
          <a:noFill/>
          <a:ln/>
        </p:spPr>
        <p:txBody>
          <a:bodyPr wrap="square" lIns="0" tIns="0" rIns="0" bIns="0" rtlCol="0" anchor="t"/>
          <a:lstStyle/>
          <a:p>
            <a:pPr marL="0" indent="0" algn="l">
              <a:lnSpc>
                <a:spcPts val="2750"/>
              </a:lnSpc>
              <a:buNone/>
            </a:pPr>
            <a:r>
              <a:rPr lang="en-US" sz="1750" dirty="0">
                <a:solidFill>
                  <a:srgbClr val="272525"/>
                </a:solidFill>
                <a:latin typeface="Inter" pitchFamily="34" charset="0"/>
                <a:ea typeface="Inter" pitchFamily="34" charset="-122"/>
                <a:cs typeface="Inter" pitchFamily="34" charset="-120"/>
              </a:rPr>
              <a:t>High spatial resolution for small-object detection</a:t>
            </a:r>
            <a:endParaRPr lang="en-US" sz="1750" dirty="0"/>
          </a:p>
        </p:txBody>
      </p:sp>
      <p:sp>
        <p:nvSpPr>
          <p:cNvPr id="14" name="Shape 10"/>
          <p:cNvSpPr/>
          <p:nvPr/>
        </p:nvSpPr>
        <p:spPr>
          <a:xfrm>
            <a:off x="10835759" y="1889879"/>
            <a:ext cx="3020854" cy="2982992"/>
          </a:xfrm>
          <a:prstGeom prst="roundRect">
            <a:avLst>
              <a:gd name="adj" fmla="val 3144"/>
            </a:avLst>
          </a:prstGeom>
          <a:solidFill>
            <a:srgbClr val="DADBF1"/>
          </a:solidFill>
          <a:ln w="7620">
            <a:solidFill>
              <a:srgbClr val="C0C1D7"/>
            </a:solidFill>
            <a:prstDash val="solid"/>
          </a:ln>
        </p:spPr>
      </p:sp>
      <p:sp>
        <p:nvSpPr>
          <p:cNvPr id="15" name="Shape 11"/>
          <p:cNvSpPr/>
          <p:nvPr/>
        </p:nvSpPr>
        <p:spPr>
          <a:xfrm>
            <a:off x="11066621" y="2120741"/>
            <a:ext cx="669846" cy="669846"/>
          </a:xfrm>
          <a:prstGeom prst="roundRect">
            <a:avLst>
              <a:gd name="adj" fmla="val 13649534"/>
            </a:avLst>
          </a:prstGeom>
          <a:solidFill>
            <a:srgbClr val="4950BC"/>
          </a:solidFill>
          <a:ln/>
        </p:spPr>
      </p:sp>
      <p:pic>
        <p:nvPicPr>
          <p:cNvPr id="16" name="Image 2"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250811" y="2304931"/>
            <a:ext cx="301347" cy="301347"/>
          </a:xfrm>
          <a:prstGeom prst="rect">
            <a:avLst/>
          </a:prstGeom>
        </p:spPr>
      </p:pic>
      <p:sp>
        <p:nvSpPr>
          <p:cNvPr id="17" name="Text 12"/>
          <p:cNvSpPr/>
          <p:nvPr/>
        </p:nvSpPr>
        <p:spPr>
          <a:xfrm>
            <a:off x="11066621" y="3010376"/>
            <a:ext cx="2559129" cy="348853"/>
          </a:xfrm>
          <a:prstGeom prst="rect">
            <a:avLst/>
          </a:prstGeom>
          <a:noFill/>
          <a:ln/>
        </p:spPr>
        <p:txBody>
          <a:bodyPr wrap="none" lIns="0" tIns="0" rIns="0" bIns="0" rtlCol="0" anchor="t"/>
          <a:lstStyle/>
          <a:p>
            <a:pPr marL="0" indent="0" algn="l">
              <a:lnSpc>
                <a:spcPts val="2700"/>
              </a:lnSpc>
              <a:buNone/>
            </a:pPr>
            <a:r>
              <a:rPr lang="en-US" sz="2150" b="1" dirty="0">
                <a:solidFill>
                  <a:srgbClr val="272525"/>
                </a:solidFill>
                <a:latin typeface="Inter Bold" pitchFamily="34" charset="0"/>
                <a:ea typeface="Inter Bold" pitchFamily="34" charset="-122"/>
                <a:cs typeface="Inter Bold" pitchFamily="34" charset="-120"/>
              </a:rPr>
              <a:t>F4 Features</a:t>
            </a:r>
            <a:endParaRPr lang="en-US" sz="2150" dirty="0"/>
          </a:p>
        </p:txBody>
      </p:sp>
      <p:sp>
        <p:nvSpPr>
          <p:cNvPr id="18" name="Text 13"/>
          <p:cNvSpPr/>
          <p:nvPr/>
        </p:nvSpPr>
        <p:spPr>
          <a:xfrm>
            <a:off x="11066621" y="3579019"/>
            <a:ext cx="2559129" cy="1062990"/>
          </a:xfrm>
          <a:prstGeom prst="rect">
            <a:avLst/>
          </a:prstGeom>
          <a:noFill/>
          <a:ln/>
        </p:spPr>
        <p:txBody>
          <a:bodyPr wrap="square" lIns="0" tIns="0" rIns="0" bIns="0" rtlCol="0" anchor="t"/>
          <a:lstStyle/>
          <a:p>
            <a:pPr marL="0" indent="0" algn="l">
              <a:lnSpc>
                <a:spcPts val="2750"/>
              </a:lnSpc>
              <a:buNone/>
            </a:pPr>
            <a:r>
              <a:rPr lang="en-US" sz="1750" dirty="0">
                <a:solidFill>
                  <a:srgbClr val="272525"/>
                </a:solidFill>
                <a:latin typeface="Inter" pitchFamily="34" charset="0"/>
                <a:ea typeface="Inter" pitchFamily="34" charset="-122"/>
                <a:cs typeface="Inter" pitchFamily="34" charset="-120"/>
              </a:rPr>
              <a:t>Mid-level features with balanced representation</a:t>
            </a:r>
            <a:endParaRPr lang="en-US" sz="1750" dirty="0"/>
          </a:p>
        </p:txBody>
      </p:sp>
      <p:sp>
        <p:nvSpPr>
          <p:cNvPr id="19" name="Shape 14"/>
          <p:cNvSpPr/>
          <p:nvPr/>
        </p:nvSpPr>
        <p:spPr>
          <a:xfrm>
            <a:off x="7595116" y="5092660"/>
            <a:ext cx="6261497" cy="2274332"/>
          </a:xfrm>
          <a:prstGeom prst="roundRect">
            <a:avLst>
              <a:gd name="adj" fmla="val 4123"/>
            </a:avLst>
          </a:prstGeom>
          <a:solidFill>
            <a:srgbClr val="DADBF1"/>
          </a:solidFill>
          <a:ln w="7620">
            <a:solidFill>
              <a:srgbClr val="C0C1D7"/>
            </a:solidFill>
            <a:prstDash val="solid"/>
          </a:ln>
        </p:spPr>
      </p:sp>
      <p:sp>
        <p:nvSpPr>
          <p:cNvPr id="20" name="Shape 15"/>
          <p:cNvSpPr/>
          <p:nvPr/>
        </p:nvSpPr>
        <p:spPr>
          <a:xfrm>
            <a:off x="7825978" y="5323523"/>
            <a:ext cx="669846" cy="669846"/>
          </a:xfrm>
          <a:prstGeom prst="roundRect">
            <a:avLst>
              <a:gd name="adj" fmla="val 13649534"/>
            </a:avLst>
          </a:prstGeom>
          <a:solidFill>
            <a:srgbClr val="4950BC"/>
          </a:solidFill>
          <a:ln/>
        </p:spPr>
      </p:sp>
      <p:pic>
        <p:nvPicPr>
          <p:cNvPr id="21" name="Image 3"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010168" y="5507712"/>
            <a:ext cx="301347" cy="301347"/>
          </a:xfrm>
          <a:prstGeom prst="rect">
            <a:avLst/>
          </a:prstGeom>
        </p:spPr>
      </p:pic>
      <p:sp>
        <p:nvSpPr>
          <p:cNvPr id="22" name="Text 16"/>
          <p:cNvSpPr/>
          <p:nvPr/>
        </p:nvSpPr>
        <p:spPr>
          <a:xfrm>
            <a:off x="7825978" y="6213158"/>
            <a:ext cx="2790944" cy="348853"/>
          </a:xfrm>
          <a:prstGeom prst="rect">
            <a:avLst/>
          </a:prstGeom>
          <a:noFill/>
          <a:ln/>
        </p:spPr>
        <p:txBody>
          <a:bodyPr wrap="none" lIns="0" tIns="0" rIns="0" bIns="0" rtlCol="0" anchor="t"/>
          <a:lstStyle/>
          <a:p>
            <a:pPr marL="0" indent="0" algn="l">
              <a:lnSpc>
                <a:spcPts val="2700"/>
              </a:lnSpc>
              <a:buNone/>
            </a:pPr>
            <a:r>
              <a:rPr lang="en-US" sz="2150" b="1" dirty="0">
                <a:solidFill>
                  <a:srgbClr val="272525"/>
                </a:solidFill>
                <a:latin typeface="Inter Bold" pitchFamily="34" charset="0"/>
                <a:ea typeface="Inter Bold" pitchFamily="34" charset="-122"/>
                <a:cs typeface="Inter Bold" pitchFamily="34" charset="-120"/>
              </a:rPr>
              <a:t>F5 Features</a:t>
            </a:r>
            <a:endParaRPr lang="en-US" sz="2150" dirty="0"/>
          </a:p>
        </p:txBody>
      </p:sp>
      <p:sp>
        <p:nvSpPr>
          <p:cNvPr id="23" name="Text 17"/>
          <p:cNvSpPr/>
          <p:nvPr/>
        </p:nvSpPr>
        <p:spPr>
          <a:xfrm>
            <a:off x="7825978" y="6781800"/>
            <a:ext cx="5799773" cy="354330"/>
          </a:xfrm>
          <a:prstGeom prst="rect">
            <a:avLst/>
          </a:prstGeom>
          <a:noFill/>
          <a:ln/>
        </p:spPr>
        <p:txBody>
          <a:bodyPr wrap="none" lIns="0" tIns="0" rIns="0" bIns="0" rtlCol="0" anchor="t"/>
          <a:lstStyle/>
          <a:p>
            <a:pPr marL="0" indent="0" algn="l">
              <a:lnSpc>
                <a:spcPts val="2750"/>
              </a:lnSpc>
              <a:buNone/>
            </a:pPr>
            <a:r>
              <a:rPr lang="en-US" sz="1750" dirty="0">
                <a:solidFill>
                  <a:srgbClr val="272525"/>
                </a:solidFill>
                <a:latin typeface="Inter" pitchFamily="34" charset="0"/>
                <a:ea typeface="Inter" pitchFamily="34" charset="-122"/>
                <a:cs typeface="Inter" pitchFamily="34" charset="-120"/>
              </a:rPr>
              <a:t>High-level semantic features, low spatial resolution</a:t>
            </a:r>
            <a:endParaRPr lang="en-US" sz="1750" dirty="0"/>
          </a:p>
        </p:txBody>
      </p:sp>
      <p:pic>
        <p:nvPicPr>
          <p:cNvPr id="27" name="Picture 26">
            <a:extLst>
              <a:ext uri="{FF2B5EF4-FFF2-40B4-BE49-F238E27FC236}">
                <a16:creationId xmlns:a16="http://schemas.microsoft.com/office/drawing/2014/main" id="{E4522E42-2ECD-960D-E352-DB5496C2B3C1}"/>
              </a:ext>
            </a:extLst>
          </p:cNvPr>
          <p:cNvPicPr>
            <a:picLocks noChangeAspect="1"/>
          </p:cNvPicPr>
          <p:nvPr/>
        </p:nvPicPr>
        <p:blipFill>
          <a:blip r:embed="rId10"/>
          <a:srcRect l="12816" t="12517" r="12816" b="14206"/>
          <a:stretch>
            <a:fillRect/>
          </a:stretch>
        </p:blipFill>
        <p:spPr>
          <a:xfrm>
            <a:off x="37368" y="0"/>
            <a:ext cx="14593032" cy="82296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885706"/>
            <a:ext cx="6101358" cy="708779"/>
          </a:xfrm>
          <a:prstGeom prst="rect">
            <a:avLst/>
          </a:prstGeom>
          <a:noFill/>
          <a:ln/>
        </p:spPr>
        <p:txBody>
          <a:bodyPr wrap="none" lIns="0" tIns="0" rIns="0" bIns="0" rtlCol="0" anchor="t"/>
          <a:lstStyle/>
          <a:p>
            <a:pPr marL="0" indent="0" algn="l">
              <a:lnSpc>
                <a:spcPts val="5550"/>
              </a:lnSpc>
              <a:buNone/>
            </a:pPr>
            <a:r>
              <a:rPr lang="en-US" sz="4450" b="1" dirty="0">
                <a:solidFill>
                  <a:schemeClr val="accent1">
                    <a:lumMod val="75000"/>
                  </a:schemeClr>
                </a:solidFill>
                <a:latin typeface="Inter Bold" pitchFamily="34" charset="0"/>
                <a:ea typeface="Inter Bold" pitchFamily="34" charset="-122"/>
                <a:cs typeface="Inter Bold" pitchFamily="34" charset="-120"/>
              </a:rPr>
              <a:t>Baseline Performance</a:t>
            </a:r>
            <a:endParaRPr lang="en-US" sz="4450" dirty="0">
              <a:solidFill>
                <a:schemeClr val="accent1">
                  <a:lumMod val="75000"/>
                </a:schemeClr>
              </a:solidFill>
            </a:endParaRPr>
          </a:p>
        </p:txBody>
      </p:sp>
      <p:sp>
        <p:nvSpPr>
          <p:cNvPr id="3" name="Text 1"/>
          <p:cNvSpPr/>
          <p:nvPr/>
        </p:nvSpPr>
        <p:spPr>
          <a:xfrm>
            <a:off x="793790" y="1685211"/>
            <a:ext cx="5945148"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YOLOv8 Baseline on NISTSpecMaxHold512</a:t>
            </a:r>
            <a:endParaRPr lang="en-US" sz="2200" dirty="0"/>
          </a:p>
        </p:txBody>
      </p:sp>
      <p:sp>
        <p:nvSpPr>
          <p:cNvPr id="4" name="Text 2"/>
          <p:cNvSpPr/>
          <p:nvPr/>
        </p:nvSpPr>
        <p:spPr>
          <a:xfrm>
            <a:off x="793790" y="2379702"/>
            <a:ext cx="13042821" cy="1088708"/>
          </a:xfrm>
          <a:prstGeom prst="rect">
            <a:avLst/>
          </a:prstGeom>
          <a:noFill/>
          <a:ln/>
        </p:spPr>
        <p:txBody>
          <a:bodyPr wrap="square" lIns="0" tIns="0" rIns="0" bIns="0" rtlCol="0" anchor="t"/>
          <a:lstStyle/>
          <a:p>
            <a:pPr marL="0" indent="0" algn="just">
              <a:lnSpc>
                <a:spcPts val="2850"/>
              </a:lnSpc>
              <a:buNone/>
            </a:pPr>
            <a:r>
              <a:rPr lang="en-US" sz="1750" dirty="0">
                <a:solidFill>
                  <a:srgbClr val="272525"/>
                </a:solidFill>
                <a:latin typeface="Inter" pitchFamily="34" charset="0"/>
                <a:ea typeface="Inter" pitchFamily="34" charset="-122"/>
                <a:cs typeface="Inter" pitchFamily="34" charset="-120"/>
              </a:rPr>
              <a:t>The baseline YOLOv8 model was trained on the NIST spectrogram dataset and serves as the reference for all ablation comparisons. The model demonstrates strong precision but lower recall, motivating further investigation into missed detections in low-SNR conditions.</a:t>
            </a:r>
            <a:endParaRPr lang="en-US" sz="1750" dirty="0"/>
          </a:p>
        </p:txBody>
      </p:sp>
      <p:sp>
        <p:nvSpPr>
          <p:cNvPr id="5" name="Shape 3"/>
          <p:cNvSpPr/>
          <p:nvPr/>
        </p:nvSpPr>
        <p:spPr>
          <a:xfrm>
            <a:off x="793790" y="3723561"/>
            <a:ext cx="13042821" cy="2639378"/>
          </a:xfrm>
          <a:prstGeom prst="roundRect">
            <a:avLst>
              <a:gd name="adj" fmla="val 3609"/>
            </a:avLst>
          </a:prstGeom>
          <a:noFill/>
          <a:ln w="7620">
            <a:solidFill>
              <a:srgbClr val="000000">
                <a:alpha val="8000"/>
              </a:srgbClr>
            </a:solidFill>
            <a:prstDash val="solid"/>
          </a:ln>
        </p:spPr>
      </p:sp>
      <p:sp>
        <p:nvSpPr>
          <p:cNvPr id="6" name="Text 4"/>
          <p:cNvSpPr/>
          <p:nvPr/>
        </p:nvSpPr>
        <p:spPr>
          <a:xfrm>
            <a:off x="1028224" y="3874889"/>
            <a:ext cx="6056352" cy="362903"/>
          </a:xfrm>
          <a:prstGeom prst="rect">
            <a:avLst/>
          </a:prstGeom>
          <a:noFill/>
          <a:ln/>
        </p:spPr>
        <p:txBody>
          <a:bodyPr wrap="none" lIns="0" tIns="0" rIns="0" bIns="0" rtlCol="0" anchor="t"/>
          <a:lstStyle/>
          <a:p>
            <a:pPr marL="0" indent="0" algn="l">
              <a:lnSpc>
                <a:spcPts val="2850"/>
              </a:lnSpc>
              <a:buNone/>
            </a:pPr>
            <a:r>
              <a:rPr lang="en-US" sz="1750" b="1" dirty="0">
                <a:solidFill>
                  <a:srgbClr val="272525"/>
                </a:solidFill>
                <a:latin typeface="Inter" pitchFamily="34" charset="0"/>
                <a:ea typeface="Inter" pitchFamily="34" charset="-122"/>
                <a:cs typeface="Inter" pitchFamily="34" charset="-120"/>
              </a:rPr>
              <a:t>Metric</a:t>
            </a:r>
            <a:endParaRPr lang="en-US" sz="1750" dirty="0"/>
          </a:p>
        </p:txBody>
      </p:sp>
      <p:sp>
        <p:nvSpPr>
          <p:cNvPr id="7" name="Text 5"/>
          <p:cNvSpPr/>
          <p:nvPr/>
        </p:nvSpPr>
        <p:spPr>
          <a:xfrm>
            <a:off x="7545824" y="3874889"/>
            <a:ext cx="6056352" cy="362903"/>
          </a:xfrm>
          <a:prstGeom prst="rect">
            <a:avLst/>
          </a:prstGeom>
          <a:noFill/>
          <a:ln/>
        </p:spPr>
        <p:txBody>
          <a:bodyPr wrap="none" lIns="0" tIns="0" rIns="0" bIns="0" rtlCol="0" anchor="t"/>
          <a:lstStyle/>
          <a:p>
            <a:pPr marL="0" indent="0" algn="l">
              <a:lnSpc>
                <a:spcPts val="2850"/>
              </a:lnSpc>
              <a:buNone/>
            </a:pPr>
            <a:r>
              <a:rPr lang="en-US" sz="1750" b="1" dirty="0">
                <a:solidFill>
                  <a:srgbClr val="272525"/>
                </a:solidFill>
                <a:latin typeface="Inter" pitchFamily="34" charset="0"/>
                <a:ea typeface="Inter" pitchFamily="34" charset="-122"/>
                <a:cs typeface="Inter" pitchFamily="34" charset="-120"/>
              </a:rPr>
              <a:t>Value</a:t>
            </a:r>
            <a:endParaRPr lang="en-US" sz="1750" dirty="0"/>
          </a:p>
        </p:txBody>
      </p:sp>
      <p:sp>
        <p:nvSpPr>
          <p:cNvPr id="8" name="Text 6"/>
          <p:cNvSpPr/>
          <p:nvPr/>
        </p:nvSpPr>
        <p:spPr>
          <a:xfrm>
            <a:off x="1028224" y="4532828"/>
            <a:ext cx="6056352"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mAP50</a:t>
            </a:r>
            <a:endParaRPr lang="en-US" sz="1750" dirty="0"/>
          </a:p>
        </p:txBody>
      </p:sp>
      <p:sp>
        <p:nvSpPr>
          <p:cNvPr id="9" name="Text 7"/>
          <p:cNvSpPr/>
          <p:nvPr/>
        </p:nvSpPr>
        <p:spPr>
          <a:xfrm>
            <a:off x="7545824" y="4532828"/>
            <a:ext cx="6056352"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0.9305</a:t>
            </a:r>
            <a:endParaRPr lang="en-US" sz="1750" dirty="0"/>
          </a:p>
        </p:txBody>
      </p:sp>
      <p:sp>
        <p:nvSpPr>
          <p:cNvPr id="10" name="Text 8"/>
          <p:cNvSpPr/>
          <p:nvPr/>
        </p:nvSpPr>
        <p:spPr>
          <a:xfrm>
            <a:off x="1028224" y="5190768"/>
            <a:ext cx="6056352"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Precision</a:t>
            </a:r>
            <a:endParaRPr lang="en-US" sz="1750" dirty="0"/>
          </a:p>
        </p:txBody>
      </p:sp>
      <p:sp>
        <p:nvSpPr>
          <p:cNvPr id="11" name="Text 9"/>
          <p:cNvSpPr/>
          <p:nvPr/>
        </p:nvSpPr>
        <p:spPr>
          <a:xfrm>
            <a:off x="7545824" y="5190768"/>
            <a:ext cx="6056352"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0.9527</a:t>
            </a:r>
            <a:endParaRPr lang="en-US" sz="1750" dirty="0"/>
          </a:p>
        </p:txBody>
      </p:sp>
      <p:sp>
        <p:nvSpPr>
          <p:cNvPr id="12" name="Text 10"/>
          <p:cNvSpPr/>
          <p:nvPr/>
        </p:nvSpPr>
        <p:spPr>
          <a:xfrm>
            <a:off x="1028224" y="5848707"/>
            <a:ext cx="6056352"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Recall</a:t>
            </a:r>
            <a:endParaRPr lang="en-US" sz="1750" dirty="0"/>
          </a:p>
        </p:txBody>
      </p:sp>
      <p:sp>
        <p:nvSpPr>
          <p:cNvPr id="13" name="Text 11"/>
          <p:cNvSpPr/>
          <p:nvPr/>
        </p:nvSpPr>
        <p:spPr>
          <a:xfrm>
            <a:off x="7545824" y="5848707"/>
            <a:ext cx="6056352"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0.8917</a:t>
            </a:r>
            <a:endParaRPr lang="en-US" sz="1750" dirty="0"/>
          </a:p>
        </p:txBody>
      </p:sp>
      <p:sp>
        <p:nvSpPr>
          <p:cNvPr id="14" name="Text 12"/>
          <p:cNvSpPr/>
          <p:nvPr/>
        </p:nvSpPr>
        <p:spPr>
          <a:xfrm>
            <a:off x="793790" y="6618089"/>
            <a:ext cx="13042821" cy="725805"/>
          </a:xfrm>
          <a:prstGeom prst="rect">
            <a:avLst/>
          </a:prstGeom>
          <a:noFill/>
          <a:ln/>
        </p:spPr>
        <p:txBody>
          <a:bodyPr wrap="square" lIns="0" tIns="0" rIns="0" bIns="0" rtlCol="0" anchor="t"/>
          <a:lstStyle/>
          <a:p>
            <a:pPr marL="0" indent="0" algn="just">
              <a:lnSpc>
                <a:spcPts val="2850"/>
              </a:lnSpc>
              <a:buNone/>
            </a:pPr>
            <a:r>
              <a:rPr lang="en-US" sz="1750" dirty="0">
                <a:solidFill>
                  <a:srgbClr val="272525"/>
                </a:solidFill>
                <a:latin typeface="Inter" pitchFamily="34" charset="0"/>
                <a:ea typeface="Inter" pitchFamily="34" charset="-122"/>
                <a:cs typeface="Inter" pitchFamily="34" charset="-120"/>
              </a:rPr>
              <a:t>Strong precision indicates high confidence in detections, while lower recall suggests missed detections in challenging low-SNR conditions remain a challenge.</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06993" y="611386"/>
            <a:ext cx="5050393" cy="631269"/>
          </a:xfrm>
          <a:prstGeom prst="rect">
            <a:avLst/>
          </a:prstGeom>
          <a:noFill/>
          <a:ln/>
        </p:spPr>
        <p:txBody>
          <a:bodyPr wrap="none" lIns="0" tIns="0" rIns="0" bIns="0" rtlCol="0" anchor="t"/>
          <a:lstStyle/>
          <a:p>
            <a:pPr marL="0" indent="0" algn="l">
              <a:lnSpc>
                <a:spcPts val="4950"/>
              </a:lnSpc>
              <a:buNone/>
            </a:pPr>
            <a:r>
              <a:rPr lang="en-US" sz="3950" b="1" dirty="0">
                <a:solidFill>
                  <a:schemeClr val="accent1">
                    <a:lumMod val="75000"/>
                  </a:schemeClr>
                </a:solidFill>
                <a:latin typeface="Inter Bold" pitchFamily="34" charset="0"/>
                <a:ea typeface="Inter Bold" pitchFamily="34" charset="-122"/>
                <a:cs typeface="Inter Bold" pitchFamily="34" charset="-120"/>
              </a:rPr>
              <a:t>Ablation</a:t>
            </a:r>
            <a:r>
              <a:rPr lang="en-US" sz="3950" b="1" dirty="0">
                <a:solidFill>
                  <a:srgbClr val="000000"/>
                </a:solidFill>
                <a:latin typeface="Inter Bold" pitchFamily="34" charset="0"/>
                <a:ea typeface="Inter Bold" pitchFamily="34" charset="-122"/>
                <a:cs typeface="Inter Bold" pitchFamily="34" charset="-120"/>
              </a:rPr>
              <a:t> </a:t>
            </a:r>
            <a:r>
              <a:rPr lang="en-US" sz="3950" b="1" dirty="0">
                <a:solidFill>
                  <a:schemeClr val="accent1">
                    <a:lumMod val="75000"/>
                  </a:schemeClr>
                </a:solidFill>
                <a:latin typeface="Inter Bold" pitchFamily="34" charset="0"/>
                <a:ea typeface="Inter Bold" pitchFamily="34" charset="-122"/>
                <a:cs typeface="Inter Bold" pitchFamily="34" charset="-120"/>
              </a:rPr>
              <a:t>Study</a:t>
            </a:r>
            <a:endParaRPr lang="en-US" sz="3950" dirty="0">
              <a:solidFill>
                <a:schemeClr val="accent1">
                  <a:lumMod val="75000"/>
                </a:schemeClr>
              </a:solidFill>
            </a:endParaRPr>
          </a:p>
        </p:txBody>
      </p:sp>
      <p:sp>
        <p:nvSpPr>
          <p:cNvPr id="3" name="Text 1"/>
          <p:cNvSpPr/>
          <p:nvPr/>
        </p:nvSpPr>
        <p:spPr>
          <a:xfrm>
            <a:off x="706993" y="1314569"/>
            <a:ext cx="4655820" cy="315635"/>
          </a:xfrm>
          <a:prstGeom prst="rect">
            <a:avLst/>
          </a:prstGeom>
          <a:noFill/>
          <a:ln/>
        </p:spPr>
        <p:txBody>
          <a:bodyPr wrap="none" lIns="0" tIns="0" rIns="0" bIns="0" rtlCol="0" anchor="t"/>
          <a:lstStyle/>
          <a:p>
            <a:pPr marL="0" indent="0" algn="l">
              <a:lnSpc>
                <a:spcPts val="2450"/>
              </a:lnSpc>
              <a:buNone/>
            </a:pPr>
            <a:r>
              <a:rPr lang="en-US" sz="1950" b="1" dirty="0">
                <a:solidFill>
                  <a:srgbClr val="000000"/>
                </a:solidFill>
                <a:latin typeface="Inter Bold" pitchFamily="34" charset="0"/>
                <a:ea typeface="Inter Bold" pitchFamily="34" charset="-122"/>
                <a:cs typeface="Inter Bold" pitchFamily="34" charset="-120"/>
              </a:rPr>
              <a:t>Comprehensive Ablation Experiments</a:t>
            </a:r>
            <a:endParaRPr lang="en-US" sz="1950" dirty="0"/>
          </a:p>
        </p:txBody>
      </p:sp>
      <p:sp>
        <p:nvSpPr>
          <p:cNvPr id="4" name="Text 2"/>
          <p:cNvSpPr/>
          <p:nvPr/>
        </p:nvSpPr>
        <p:spPr>
          <a:xfrm>
            <a:off x="706993" y="1822847"/>
            <a:ext cx="13216414" cy="611029"/>
          </a:xfrm>
          <a:prstGeom prst="rect">
            <a:avLst/>
          </a:prstGeom>
          <a:noFill/>
          <a:ln/>
        </p:spPr>
        <p:txBody>
          <a:bodyPr wrap="square" lIns="0" tIns="0" rIns="0" bIns="0" rtlCol="0" anchor="t"/>
          <a:lstStyle/>
          <a:p>
            <a:pPr marL="0" indent="0" algn="just">
              <a:lnSpc>
                <a:spcPts val="2400"/>
              </a:lnSpc>
              <a:buNone/>
            </a:pPr>
            <a:r>
              <a:rPr lang="en-US" sz="1550" dirty="0">
                <a:solidFill>
                  <a:srgbClr val="272525"/>
                </a:solidFill>
                <a:latin typeface="Inter" pitchFamily="34" charset="0"/>
                <a:ea typeface="Inter" pitchFamily="34" charset="-122"/>
                <a:cs typeface="Inter" pitchFamily="34" charset="-120"/>
              </a:rPr>
              <a:t>A systematic ablation study was conducted to understand the contribution of different architectural components. Each experiment modifies a specific aspect of the baseline model while keeping other parameters constant.</a:t>
            </a:r>
            <a:endParaRPr lang="en-US" sz="1550" dirty="0"/>
          </a:p>
        </p:txBody>
      </p:sp>
      <p:sp>
        <p:nvSpPr>
          <p:cNvPr id="5" name="Shape 3"/>
          <p:cNvSpPr/>
          <p:nvPr/>
        </p:nvSpPr>
        <p:spPr>
          <a:xfrm>
            <a:off x="706993" y="2713434"/>
            <a:ext cx="13216414" cy="4904661"/>
          </a:xfrm>
          <a:prstGeom prst="roundRect">
            <a:avLst>
              <a:gd name="adj" fmla="val 3425"/>
            </a:avLst>
          </a:prstGeom>
          <a:noFill/>
          <a:ln w="7620">
            <a:solidFill>
              <a:srgbClr val="000000">
                <a:alpha val="8000"/>
              </a:srgbClr>
            </a:solidFill>
            <a:prstDash val="solid"/>
          </a:ln>
          <a:effectLst>
            <a:reflection blurRad="6350" stA="52000" endA="300" endPos="35000" dir="5400000" sy="-100000" algn="bl" rotWithShape="0"/>
          </a:effectLst>
        </p:spPr>
      </p:sp>
      <p:sp>
        <p:nvSpPr>
          <p:cNvPr id="6" name="Text 4"/>
          <p:cNvSpPr/>
          <p:nvPr/>
        </p:nvSpPr>
        <p:spPr>
          <a:xfrm>
            <a:off x="916662" y="2836545"/>
            <a:ext cx="2232541" cy="305514"/>
          </a:xfrm>
          <a:prstGeom prst="rect">
            <a:avLst/>
          </a:prstGeom>
          <a:noFill/>
          <a:ln/>
        </p:spPr>
        <p:txBody>
          <a:bodyPr wrap="none" lIns="0" tIns="0" rIns="0" bIns="0" rtlCol="0" anchor="t"/>
          <a:lstStyle/>
          <a:p>
            <a:pPr marL="0" indent="0" algn="l">
              <a:lnSpc>
                <a:spcPts val="2400"/>
              </a:lnSpc>
              <a:buNone/>
            </a:pPr>
            <a:r>
              <a:rPr lang="en-US" sz="1550" b="1" dirty="0">
                <a:solidFill>
                  <a:srgbClr val="272525"/>
                </a:solidFill>
                <a:latin typeface="Inter" pitchFamily="34" charset="0"/>
                <a:ea typeface="Inter" pitchFamily="34" charset="-122"/>
                <a:cs typeface="Inter" pitchFamily="34" charset="-120"/>
              </a:rPr>
              <a:t>Ablation</a:t>
            </a:r>
            <a:endParaRPr lang="en-US" sz="1550" dirty="0"/>
          </a:p>
        </p:txBody>
      </p:sp>
      <p:sp>
        <p:nvSpPr>
          <p:cNvPr id="7" name="Text 5"/>
          <p:cNvSpPr/>
          <p:nvPr/>
        </p:nvSpPr>
        <p:spPr>
          <a:xfrm>
            <a:off x="3560683" y="2836545"/>
            <a:ext cx="2228731" cy="305514"/>
          </a:xfrm>
          <a:prstGeom prst="rect">
            <a:avLst/>
          </a:prstGeom>
          <a:noFill/>
          <a:ln/>
        </p:spPr>
        <p:txBody>
          <a:bodyPr wrap="none" lIns="0" tIns="0" rIns="0" bIns="0" rtlCol="0" anchor="t"/>
          <a:lstStyle/>
          <a:p>
            <a:pPr marL="0" indent="0" algn="l">
              <a:lnSpc>
                <a:spcPts val="2400"/>
              </a:lnSpc>
              <a:buNone/>
            </a:pPr>
            <a:r>
              <a:rPr lang="en-US" sz="1550" b="1" dirty="0">
                <a:solidFill>
                  <a:srgbClr val="272525"/>
                </a:solidFill>
                <a:latin typeface="Inter" pitchFamily="34" charset="0"/>
                <a:ea typeface="Inter" pitchFamily="34" charset="-122"/>
                <a:cs typeface="Inter" pitchFamily="34" charset="-120"/>
              </a:rPr>
              <a:t>mAP50</a:t>
            </a:r>
            <a:endParaRPr lang="en-US" sz="1550" dirty="0"/>
          </a:p>
        </p:txBody>
      </p:sp>
      <p:sp>
        <p:nvSpPr>
          <p:cNvPr id="8" name="Text 6"/>
          <p:cNvSpPr/>
          <p:nvPr/>
        </p:nvSpPr>
        <p:spPr>
          <a:xfrm>
            <a:off x="6200894" y="2836545"/>
            <a:ext cx="2228731" cy="305514"/>
          </a:xfrm>
          <a:prstGeom prst="rect">
            <a:avLst/>
          </a:prstGeom>
          <a:noFill/>
          <a:ln/>
        </p:spPr>
        <p:txBody>
          <a:bodyPr wrap="none" lIns="0" tIns="0" rIns="0" bIns="0" rtlCol="0" anchor="t"/>
          <a:lstStyle/>
          <a:p>
            <a:pPr marL="0" indent="0" algn="l">
              <a:lnSpc>
                <a:spcPts val="2400"/>
              </a:lnSpc>
              <a:buNone/>
            </a:pPr>
            <a:r>
              <a:rPr lang="en-US" sz="1550" b="1" dirty="0">
                <a:solidFill>
                  <a:srgbClr val="272525"/>
                </a:solidFill>
                <a:latin typeface="Inter" pitchFamily="34" charset="0"/>
                <a:ea typeface="Inter" pitchFamily="34" charset="-122"/>
                <a:cs typeface="Inter" pitchFamily="34" charset="-120"/>
              </a:rPr>
              <a:t>Precision</a:t>
            </a:r>
            <a:endParaRPr lang="en-US" sz="1550" dirty="0"/>
          </a:p>
        </p:txBody>
      </p:sp>
      <p:sp>
        <p:nvSpPr>
          <p:cNvPr id="9" name="Text 7"/>
          <p:cNvSpPr/>
          <p:nvPr/>
        </p:nvSpPr>
        <p:spPr>
          <a:xfrm>
            <a:off x="8841105" y="2836545"/>
            <a:ext cx="2228731" cy="305514"/>
          </a:xfrm>
          <a:prstGeom prst="rect">
            <a:avLst/>
          </a:prstGeom>
          <a:noFill/>
          <a:ln/>
        </p:spPr>
        <p:txBody>
          <a:bodyPr wrap="none" lIns="0" tIns="0" rIns="0" bIns="0" rtlCol="0" anchor="t"/>
          <a:lstStyle/>
          <a:p>
            <a:pPr marL="0" indent="0" algn="l">
              <a:lnSpc>
                <a:spcPts val="2400"/>
              </a:lnSpc>
              <a:buNone/>
            </a:pPr>
            <a:r>
              <a:rPr lang="en-US" sz="1550" b="1" dirty="0">
                <a:solidFill>
                  <a:srgbClr val="272525"/>
                </a:solidFill>
                <a:latin typeface="Inter" pitchFamily="34" charset="0"/>
                <a:ea typeface="Inter" pitchFamily="34" charset="-122"/>
                <a:cs typeface="Inter" pitchFamily="34" charset="-120"/>
              </a:rPr>
              <a:t>Recall</a:t>
            </a:r>
            <a:endParaRPr lang="en-US" sz="1550" dirty="0"/>
          </a:p>
        </p:txBody>
      </p:sp>
      <p:sp>
        <p:nvSpPr>
          <p:cNvPr id="10" name="Text 8"/>
          <p:cNvSpPr/>
          <p:nvPr/>
        </p:nvSpPr>
        <p:spPr>
          <a:xfrm>
            <a:off x="11481316" y="2836545"/>
            <a:ext cx="2232541" cy="305514"/>
          </a:xfrm>
          <a:prstGeom prst="rect">
            <a:avLst/>
          </a:prstGeom>
          <a:noFill/>
          <a:ln/>
        </p:spPr>
        <p:txBody>
          <a:bodyPr wrap="none" lIns="0" tIns="0" rIns="0" bIns="0" rtlCol="0" anchor="t"/>
          <a:lstStyle/>
          <a:p>
            <a:pPr marL="0" indent="0" algn="l">
              <a:lnSpc>
                <a:spcPts val="2400"/>
              </a:lnSpc>
              <a:buNone/>
            </a:pPr>
            <a:r>
              <a:rPr lang="en-US" sz="1550" b="1" dirty="0">
                <a:solidFill>
                  <a:srgbClr val="272525"/>
                </a:solidFill>
                <a:latin typeface="Inter" pitchFamily="34" charset="0"/>
                <a:ea typeface="Inter" pitchFamily="34" charset="-122"/>
                <a:cs typeface="Inter" pitchFamily="34" charset="-120"/>
              </a:rPr>
              <a:t>ΔmAP</a:t>
            </a:r>
            <a:endParaRPr lang="en-US" sz="1550" dirty="0"/>
          </a:p>
        </p:txBody>
      </p:sp>
      <p:sp>
        <p:nvSpPr>
          <p:cNvPr id="11" name="Text 9"/>
          <p:cNvSpPr/>
          <p:nvPr/>
        </p:nvSpPr>
        <p:spPr>
          <a:xfrm>
            <a:off x="916662" y="3380661"/>
            <a:ext cx="2232541" cy="305514"/>
          </a:xfrm>
          <a:prstGeom prst="rect">
            <a:avLst/>
          </a:prstGeom>
          <a:noFill/>
          <a:ln/>
        </p:spPr>
        <p:txBody>
          <a:bodyPr wrap="none" lIns="0" tIns="0" rIns="0" bIns="0" rtlCol="0" anchor="t"/>
          <a:lstStyle/>
          <a:p>
            <a:pPr marL="0" indent="0" algn="l">
              <a:lnSpc>
                <a:spcPts val="2400"/>
              </a:lnSpc>
              <a:buNone/>
            </a:pPr>
            <a:r>
              <a:rPr lang="en-US" sz="1550" dirty="0">
                <a:solidFill>
                  <a:srgbClr val="272525"/>
                </a:solidFill>
                <a:latin typeface="Inter" pitchFamily="34" charset="0"/>
                <a:ea typeface="Inter" pitchFamily="34" charset="-122"/>
                <a:cs typeface="Inter" pitchFamily="34" charset="-120"/>
              </a:rPr>
              <a:t>Baseline</a:t>
            </a:r>
            <a:endParaRPr lang="en-US" sz="1550" dirty="0"/>
          </a:p>
        </p:txBody>
      </p:sp>
      <p:sp>
        <p:nvSpPr>
          <p:cNvPr id="12" name="Text 10"/>
          <p:cNvSpPr/>
          <p:nvPr/>
        </p:nvSpPr>
        <p:spPr>
          <a:xfrm>
            <a:off x="3560683" y="3380661"/>
            <a:ext cx="2228731" cy="305514"/>
          </a:xfrm>
          <a:prstGeom prst="rect">
            <a:avLst/>
          </a:prstGeom>
          <a:noFill/>
          <a:ln/>
        </p:spPr>
        <p:txBody>
          <a:bodyPr wrap="none" lIns="0" tIns="0" rIns="0" bIns="0" rtlCol="0" anchor="t"/>
          <a:lstStyle/>
          <a:p>
            <a:pPr marL="0" indent="0" algn="l">
              <a:lnSpc>
                <a:spcPts val="2400"/>
              </a:lnSpc>
              <a:buNone/>
            </a:pPr>
            <a:r>
              <a:rPr lang="en-US" sz="1550" dirty="0">
                <a:solidFill>
                  <a:srgbClr val="272525"/>
                </a:solidFill>
                <a:latin typeface="Inter" pitchFamily="34" charset="0"/>
                <a:ea typeface="Inter" pitchFamily="34" charset="-122"/>
                <a:cs typeface="Inter" pitchFamily="34" charset="-120"/>
              </a:rPr>
              <a:t>0.9305</a:t>
            </a:r>
            <a:endParaRPr lang="en-US" sz="1550" dirty="0"/>
          </a:p>
        </p:txBody>
      </p:sp>
      <p:sp>
        <p:nvSpPr>
          <p:cNvPr id="13" name="Text 11"/>
          <p:cNvSpPr/>
          <p:nvPr/>
        </p:nvSpPr>
        <p:spPr>
          <a:xfrm>
            <a:off x="6200894" y="3380661"/>
            <a:ext cx="2228731" cy="305514"/>
          </a:xfrm>
          <a:prstGeom prst="rect">
            <a:avLst/>
          </a:prstGeom>
          <a:noFill/>
          <a:ln/>
        </p:spPr>
        <p:txBody>
          <a:bodyPr wrap="none" lIns="0" tIns="0" rIns="0" bIns="0" rtlCol="0" anchor="t"/>
          <a:lstStyle/>
          <a:p>
            <a:pPr marL="0" indent="0" algn="l">
              <a:lnSpc>
                <a:spcPts val="2400"/>
              </a:lnSpc>
              <a:buNone/>
            </a:pPr>
            <a:r>
              <a:rPr lang="en-US" sz="1550" dirty="0">
                <a:solidFill>
                  <a:srgbClr val="272525"/>
                </a:solidFill>
                <a:latin typeface="Inter" pitchFamily="34" charset="0"/>
                <a:ea typeface="Inter" pitchFamily="34" charset="-122"/>
                <a:cs typeface="Inter" pitchFamily="34" charset="-120"/>
              </a:rPr>
              <a:t>0.9527</a:t>
            </a:r>
            <a:endParaRPr lang="en-US" sz="1550" dirty="0"/>
          </a:p>
        </p:txBody>
      </p:sp>
      <p:sp>
        <p:nvSpPr>
          <p:cNvPr id="14" name="Text 12"/>
          <p:cNvSpPr/>
          <p:nvPr/>
        </p:nvSpPr>
        <p:spPr>
          <a:xfrm>
            <a:off x="8841105" y="3380661"/>
            <a:ext cx="2228731" cy="305514"/>
          </a:xfrm>
          <a:prstGeom prst="rect">
            <a:avLst/>
          </a:prstGeom>
          <a:noFill/>
          <a:ln/>
        </p:spPr>
        <p:txBody>
          <a:bodyPr wrap="none" lIns="0" tIns="0" rIns="0" bIns="0" rtlCol="0" anchor="t"/>
          <a:lstStyle/>
          <a:p>
            <a:pPr marL="0" indent="0" algn="l">
              <a:lnSpc>
                <a:spcPts val="2400"/>
              </a:lnSpc>
              <a:buNone/>
            </a:pPr>
            <a:r>
              <a:rPr lang="en-US" sz="1550" dirty="0">
                <a:solidFill>
                  <a:srgbClr val="272525"/>
                </a:solidFill>
                <a:latin typeface="Inter" pitchFamily="34" charset="0"/>
                <a:ea typeface="Inter" pitchFamily="34" charset="-122"/>
                <a:cs typeface="Inter" pitchFamily="34" charset="-120"/>
              </a:rPr>
              <a:t>0.8917</a:t>
            </a:r>
            <a:endParaRPr lang="en-US" sz="1550" dirty="0"/>
          </a:p>
        </p:txBody>
      </p:sp>
      <p:sp>
        <p:nvSpPr>
          <p:cNvPr id="15" name="Text 13"/>
          <p:cNvSpPr/>
          <p:nvPr/>
        </p:nvSpPr>
        <p:spPr>
          <a:xfrm>
            <a:off x="11481316" y="3380661"/>
            <a:ext cx="2232541" cy="305514"/>
          </a:xfrm>
          <a:prstGeom prst="rect">
            <a:avLst/>
          </a:prstGeom>
          <a:noFill/>
          <a:ln/>
        </p:spPr>
        <p:txBody>
          <a:bodyPr wrap="none" lIns="0" tIns="0" rIns="0" bIns="0" rtlCol="0" anchor="t"/>
          <a:lstStyle/>
          <a:p>
            <a:pPr marL="0" indent="0" algn="l">
              <a:lnSpc>
                <a:spcPts val="2400"/>
              </a:lnSpc>
              <a:buNone/>
            </a:pPr>
            <a:r>
              <a:rPr lang="en-US" sz="1550" dirty="0">
                <a:solidFill>
                  <a:srgbClr val="272525"/>
                </a:solidFill>
                <a:latin typeface="Inter" pitchFamily="34" charset="0"/>
                <a:ea typeface="Inter" pitchFamily="34" charset="-122"/>
                <a:cs typeface="Inter" pitchFamily="34" charset="-120"/>
              </a:rPr>
              <a:t>0</a:t>
            </a:r>
            <a:endParaRPr lang="en-US" sz="1550" dirty="0"/>
          </a:p>
        </p:txBody>
      </p:sp>
      <p:sp>
        <p:nvSpPr>
          <p:cNvPr id="16" name="Text 14"/>
          <p:cNvSpPr/>
          <p:nvPr/>
        </p:nvSpPr>
        <p:spPr>
          <a:xfrm>
            <a:off x="916662" y="3924776"/>
            <a:ext cx="2232541" cy="305514"/>
          </a:xfrm>
          <a:prstGeom prst="rect">
            <a:avLst/>
          </a:prstGeom>
          <a:noFill/>
          <a:ln/>
        </p:spPr>
        <p:txBody>
          <a:bodyPr wrap="none" lIns="0" tIns="0" rIns="0" bIns="0" rtlCol="0" anchor="t"/>
          <a:lstStyle/>
          <a:p>
            <a:pPr marL="0" indent="0" algn="l">
              <a:lnSpc>
                <a:spcPts val="2400"/>
              </a:lnSpc>
              <a:buNone/>
            </a:pPr>
            <a:r>
              <a:rPr lang="en-US" sz="1550" dirty="0">
                <a:solidFill>
                  <a:srgbClr val="272525"/>
                </a:solidFill>
                <a:latin typeface="Inter" pitchFamily="34" charset="0"/>
                <a:ea typeface="Inter" pitchFamily="34" charset="-122"/>
                <a:cs typeface="Inter" pitchFamily="34" charset="-120"/>
              </a:rPr>
              <a:t>No P3</a:t>
            </a:r>
            <a:endParaRPr lang="en-US" sz="1550" dirty="0"/>
          </a:p>
        </p:txBody>
      </p:sp>
      <p:sp>
        <p:nvSpPr>
          <p:cNvPr id="17" name="Text 15"/>
          <p:cNvSpPr/>
          <p:nvPr/>
        </p:nvSpPr>
        <p:spPr>
          <a:xfrm>
            <a:off x="3560683" y="3924776"/>
            <a:ext cx="2228731" cy="305514"/>
          </a:xfrm>
          <a:prstGeom prst="rect">
            <a:avLst/>
          </a:prstGeom>
          <a:noFill/>
          <a:ln/>
        </p:spPr>
        <p:txBody>
          <a:bodyPr wrap="none" lIns="0" tIns="0" rIns="0" bIns="0" rtlCol="0" anchor="t"/>
          <a:lstStyle/>
          <a:p>
            <a:pPr marL="0" indent="0" algn="l">
              <a:lnSpc>
                <a:spcPts val="2400"/>
              </a:lnSpc>
              <a:buNone/>
            </a:pPr>
            <a:r>
              <a:rPr lang="en-US" sz="1550" dirty="0">
                <a:solidFill>
                  <a:srgbClr val="272525"/>
                </a:solidFill>
                <a:latin typeface="Inter" pitchFamily="34" charset="0"/>
                <a:ea typeface="Inter" pitchFamily="34" charset="-122"/>
                <a:cs typeface="Inter" pitchFamily="34" charset="-120"/>
              </a:rPr>
              <a:t>0.8610</a:t>
            </a:r>
            <a:endParaRPr lang="en-US" sz="1550" dirty="0"/>
          </a:p>
        </p:txBody>
      </p:sp>
      <p:sp>
        <p:nvSpPr>
          <p:cNvPr id="18" name="Text 16"/>
          <p:cNvSpPr/>
          <p:nvPr/>
        </p:nvSpPr>
        <p:spPr>
          <a:xfrm>
            <a:off x="6200894" y="3924776"/>
            <a:ext cx="2228731" cy="305514"/>
          </a:xfrm>
          <a:prstGeom prst="rect">
            <a:avLst/>
          </a:prstGeom>
          <a:noFill/>
          <a:ln/>
        </p:spPr>
        <p:txBody>
          <a:bodyPr wrap="none" lIns="0" tIns="0" rIns="0" bIns="0" rtlCol="0" anchor="t"/>
          <a:lstStyle/>
          <a:p>
            <a:pPr marL="0" indent="0" algn="l">
              <a:lnSpc>
                <a:spcPts val="2400"/>
              </a:lnSpc>
              <a:buNone/>
            </a:pPr>
            <a:r>
              <a:rPr lang="en-US" sz="1550" dirty="0">
                <a:solidFill>
                  <a:srgbClr val="272525"/>
                </a:solidFill>
                <a:latin typeface="Inter" pitchFamily="34" charset="0"/>
                <a:ea typeface="Inter" pitchFamily="34" charset="-122"/>
                <a:cs typeface="Inter" pitchFamily="34" charset="-120"/>
              </a:rPr>
              <a:t>0.9102</a:t>
            </a:r>
            <a:endParaRPr lang="en-US" sz="1550" dirty="0"/>
          </a:p>
        </p:txBody>
      </p:sp>
      <p:sp>
        <p:nvSpPr>
          <p:cNvPr id="19" name="Text 17"/>
          <p:cNvSpPr/>
          <p:nvPr/>
        </p:nvSpPr>
        <p:spPr>
          <a:xfrm>
            <a:off x="8841105" y="3924776"/>
            <a:ext cx="2228731" cy="305514"/>
          </a:xfrm>
          <a:prstGeom prst="rect">
            <a:avLst/>
          </a:prstGeom>
          <a:noFill/>
          <a:ln/>
        </p:spPr>
        <p:txBody>
          <a:bodyPr wrap="none" lIns="0" tIns="0" rIns="0" bIns="0" rtlCol="0" anchor="t"/>
          <a:lstStyle/>
          <a:p>
            <a:pPr marL="0" indent="0" algn="l">
              <a:lnSpc>
                <a:spcPts val="2400"/>
              </a:lnSpc>
              <a:buNone/>
            </a:pPr>
            <a:r>
              <a:rPr lang="en-US" sz="1550" dirty="0">
                <a:solidFill>
                  <a:srgbClr val="272525"/>
                </a:solidFill>
                <a:latin typeface="Inter" pitchFamily="34" charset="0"/>
                <a:ea typeface="Inter" pitchFamily="34" charset="-122"/>
                <a:cs typeface="Inter" pitchFamily="34" charset="-120"/>
              </a:rPr>
              <a:t>0.8025</a:t>
            </a:r>
            <a:endParaRPr lang="en-US" sz="1550" dirty="0"/>
          </a:p>
        </p:txBody>
      </p:sp>
      <p:sp>
        <p:nvSpPr>
          <p:cNvPr id="20" name="Text 18"/>
          <p:cNvSpPr/>
          <p:nvPr/>
        </p:nvSpPr>
        <p:spPr>
          <a:xfrm>
            <a:off x="11481316" y="3924776"/>
            <a:ext cx="2232541" cy="305514"/>
          </a:xfrm>
          <a:prstGeom prst="rect">
            <a:avLst/>
          </a:prstGeom>
          <a:noFill/>
          <a:ln/>
        </p:spPr>
        <p:txBody>
          <a:bodyPr wrap="none" lIns="0" tIns="0" rIns="0" bIns="0" rtlCol="0" anchor="t"/>
          <a:lstStyle/>
          <a:p>
            <a:pPr marL="0" indent="0" algn="l">
              <a:lnSpc>
                <a:spcPts val="2400"/>
              </a:lnSpc>
              <a:buNone/>
            </a:pPr>
            <a:r>
              <a:rPr lang="en-US" sz="1550" dirty="0">
                <a:solidFill>
                  <a:srgbClr val="272525"/>
                </a:solidFill>
                <a:latin typeface="Inter" pitchFamily="34" charset="0"/>
                <a:ea typeface="Inter" pitchFamily="34" charset="-122"/>
                <a:cs typeface="Inter" pitchFamily="34" charset="-120"/>
              </a:rPr>
              <a:t>−0.0695</a:t>
            </a:r>
            <a:endParaRPr lang="en-US" sz="1550" dirty="0"/>
          </a:p>
        </p:txBody>
      </p:sp>
      <p:sp>
        <p:nvSpPr>
          <p:cNvPr id="21" name="Text 19"/>
          <p:cNvSpPr/>
          <p:nvPr/>
        </p:nvSpPr>
        <p:spPr>
          <a:xfrm>
            <a:off x="916662" y="4468892"/>
            <a:ext cx="2232541" cy="305514"/>
          </a:xfrm>
          <a:prstGeom prst="rect">
            <a:avLst/>
          </a:prstGeom>
          <a:noFill/>
          <a:ln/>
        </p:spPr>
        <p:txBody>
          <a:bodyPr wrap="none" lIns="0" tIns="0" rIns="0" bIns="0" rtlCol="0" anchor="t"/>
          <a:lstStyle/>
          <a:p>
            <a:pPr marL="0" indent="0" algn="l">
              <a:lnSpc>
                <a:spcPts val="2400"/>
              </a:lnSpc>
              <a:buNone/>
            </a:pPr>
            <a:r>
              <a:rPr lang="en-US" sz="1550" dirty="0">
                <a:solidFill>
                  <a:srgbClr val="272525"/>
                </a:solidFill>
                <a:latin typeface="Inter" pitchFamily="34" charset="0"/>
                <a:ea typeface="Inter" pitchFamily="34" charset="-122"/>
                <a:cs typeface="Inter" pitchFamily="34" charset="-120"/>
              </a:rPr>
              <a:t>No P5</a:t>
            </a:r>
            <a:endParaRPr lang="en-US" sz="1550" dirty="0"/>
          </a:p>
        </p:txBody>
      </p:sp>
      <p:sp>
        <p:nvSpPr>
          <p:cNvPr id="22" name="Text 20"/>
          <p:cNvSpPr/>
          <p:nvPr/>
        </p:nvSpPr>
        <p:spPr>
          <a:xfrm>
            <a:off x="3560683" y="4468892"/>
            <a:ext cx="2228731" cy="305514"/>
          </a:xfrm>
          <a:prstGeom prst="rect">
            <a:avLst/>
          </a:prstGeom>
          <a:noFill/>
          <a:ln/>
        </p:spPr>
        <p:txBody>
          <a:bodyPr wrap="none" lIns="0" tIns="0" rIns="0" bIns="0" rtlCol="0" anchor="t"/>
          <a:lstStyle/>
          <a:p>
            <a:pPr marL="0" indent="0" algn="l">
              <a:lnSpc>
                <a:spcPts val="2400"/>
              </a:lnSpc>
              <a:buNone/>
            </a:pPr>
            <a:r>
              <a:rPr lang="en-US" sz="1550" dirty="0">
                <a:solidFill>
                  <a:srgbClr val="272525"/>
                </a:solidFill>
                <a:latin typeface="Inter" pitchFamily="34" charset="0"/>
                <a:ea typeface="Inter" pitchFamily="34" charset="-122"/>
                <a:cs typeface="Inter" pitchFamily="34" charset="-120"/>
              </a:rPr>
              <a:t>0.9289</a:t>
            </a:r>
            <a:endParaRPr lang="en-US" sz="1550" dirty="0"/>
          </a:p>
        </p:txBody>
      </p:sp>
      <p:sp>
        <p:nvSpPr>
          <p:cNvPr id="23" name="Text 21"/>
          <p:cNvSpPr/>
          <p:nvPr/>
        </p:nvSpPr>
        <p:spPr>
          <a:xfrm>
            <a:off x="6200894" y="4468892"/>
            <a:ext cx="2228731" cy="305514"/>
          </a:xfrm>
          <a:prstGeom prst="rect">
            <a:avLst/>
          </a:prstGeom>
          <a:noFill/>
          <a:ln/>
        </p:spPr>
        <p:txBody>
          <a:bodyPr wrap="none" lIns="0" tIns="0" rIns="0" bIns="0" rtlCol="0" anchor="t"/>
          <a:lstStyle/>
          <a:p>
            <a:pPr marL="0" indent="0" algn="l">
              <a:lnSpc>
                <a:spcPts val="2400"/>
              </a:lnSpc>
              <a:buNone/>
            </a:pPr>
            <a:r>
              <a:rPr lang="en-US" sz="1550" dirty="0">
                <a:solidFill>
                  <a:srgbClr val="272525"/>
                </a:solidFill>
                <a:latin typeface="Inter" pitchFamily="34" charset="0"/>
                <a:ea typeface="Inter" pitchFamily="34" charset="-122"/>
                <a:cs typeface="Inter" pitchFamily="34" charset="-120"/>
              </a:rPr>
              <a:t>0.9511</a:t>
            </a:r>
            <a:endParaRPr lang="en-US" sz="1550" dirty="0"/>
          </a:p>
        </p:txBody>
      </p:sp>
      <p:sp>
        <p:nvSpPr>
          <p:cNvPr id="24" name="Text 22"/>
          <p:cNvSpPr/>
          <p:nvPr/>
        </p:nvSpPr>
        <p:spPr>
          <a:xfrm>
            <a:off x="8841105" y="4468892"/>
            <a:ext cx="2228731" cy="305514"/>
          </a:xfrm>
          <a:prstGeom prst="rect">
            <a:avLst/>
          </a:prstGeom>
          <a:noFill/>
          <a:ln/>
        </p:spPr>
        <p:txBody>
          <a:bodyPr wrap="none" lIns="0" tIns="0" rIns="0" bIns="0" rtlCol="0" anchor="t"/>
          <a:lstStyle/>
          <a:p>
            <a:pPr marL="0" indent="0" algn="l">
              <a:lnSpc>
                <a:spcPts val="2400"/>
              </a:lnSpc>
              <a:buNone/>
            </a:pPr>
            <a:r>
              <a:rPr lang="en-US" sz="1550" dirty="0">
                <a:solidFill>
                  <a:srgbClr val="272525"/>
                </a:solidFill>
                <a:latin typeface="Inter" pitchFamily="34" charset="0"/>
                <a:ea typeface="Inter" pitchFamily="34" charset="-122"/>
                <a:cs typeface="Inter" pitchFamily="34" charset="-120"/>
              </a:rPr>
              <a:t>0.8890</a:t>
            </a:r>
            <a:endParaRPr lang="en-US" sz="1550" dirty="0"/>
          </a:p>
        </p:txBody>
      </p:sp>
      <p:sp>
        <p:nvSpPr>
          <p:cNvPr id="25" name="Text 23"/>
          <p:cNvSpPr/>
          <p:nvPr/>
        </p:nvSpPr>
        <p:spPr>
          <a:xfrm>
            <a:off x="11481316" y="4468892"/>
            <a:ext cx="2232541" cy="305514"/>
          </a:xfrm>
          <a:prstGeom prst="rect">
            <a:avLst/>
          </a:prstGeom>
          <a:noFill/>
          <a:ln/>
        </p:spPr>
        <p:txBody>
          <a:bodyPr wrap="none" lIns="0" tIns="0" rIns="0" bIns="0" rtlCol="0" anchor="t"/>
          <a:lstStyle/>
          <a:p>
            <a:pPr marL="0" indent="0" algn="l">
              <a:lnSpc>
                <a:spcPts val="2400"/>
              </a:lnSpc>
              <a:buNone/>
            </a:pPr>
            <a:r>
              <a:rPr lang="en-US" sz="1550" dirty="0">
                <a:solidFill>
                  <a:srgbClr val="272525"/>
                </a:solidFill>
                <a:latin typeface="Inter" pitchFamily="34" charset="0"/>
                <a:ea typeface="Inter" pitchFamily="34" charset="-122"/>
                <a:cs typeface="Inter" pitchFamily="34" charset="-120"/>
              </a:rPr>
              <a:t>−0.0016</a:t>
            </a:r>
            <a:endParaRPr lang="en-US" sz="1550" dirty="0"/>
          </a:p>
        </p:txBody>
      </p:sp>
      <p:sp>
        <p:nvSpPr>
          <p:cNvPr id="26" name="Text 24"/>
          <p:cNvSpPr/>
          <p:nvPr/>
        </p:nvSpPr>
        <p:spPr>
          <a:xfrm>
            <a:off x="916662" y="5013008"/>
            <a:ext cx="2232541" cy="305514"/>
          </a:xfrm>
          <a:prstGeom prst="rect">
            <a:avLst/>
          </a:prstGeom>
          <a:noFill/>
          <a:ln/>
        </p:spPr>
        <p:txBody>
          <a:bodyPr wrap="none" lIns="0" tIns="0" rIns="0" bIns="0" rtlCol="0" anchor="t"/>
          <a:lstStyle/>
          <a:p>
            <a:pPr marL="0" indent="0" algn="l">
              <a:lnSpc>
                <a:spcPts val="2400"/>
              </a:lnSpc>
              <a:buNone/>
            </a:pPr>
            <a:r>
              <a:rPr lang="en-US" sz="1550" dirty="0">
                <a:solidFill>
                  <a:srgbClr val="272525"/>
                </a:solidFill>
                <a:latin typeface="Inter" pitchFamily="34" charset="0"/>
                <a:ea typeface="Inter" pitchFamily="34" charset="-122"/>
                <a:cs typeface="Inter" pitchFamily="34" charset="-120"/>
              </a:rPr>
              <a:t>Frozen Backbone</a:t>
            </a:r>
            <a:endParaRPr lang="en-US" sz="1550" dirty="0"/>
          </a:p>
        </p:txBody>
      </p:sp>
      <p:sp>
        <p:nvSpPr>
          <p:cNvPr id="27" name="Text 25"/>
          <p:cNvSpPr/>
          <p:nvPr/>
        </p:nvSpPr>
        <p:spPr>
          <a:xfrm>
            <a:off x="3560683" y="5013008"/>
            <a:ext cx="2228731" cy="305514"/>
          </a:xfrm>
          <a:prstGeom prst="rect">
            <a:avLst/>
          </a:prstGeom>
          <a:noFill/>
          <a:ln/>
        </p:spPr>
        <p:txBody>
          <a:bodyPr wrap="none" lIns="0" tIns="0" rIns="0" bIns="0" rtlCol="0" anchor="t"/>
          <a:lstStyle/>
          <a:p>
            <a:pPr marL="0" indent="0" algn="l">
              <a:lnSpc>
                <a:spcPts val="2400"/>
              </a:lnSpc>
              <a:buNone/>
            </a:pPr>
            <a:r>
              <a:rPr lang="en-US" sz="1550" dirty="0">
                <a:solidFill>
                  <a:srgbClr val="272525"/>
                </a:solidFill>
                <a:latin typeface="Inter" pitchFamily="34" charset="0"/>
                <a:ea typeface="Inter" pitchFamily="34" charset="-122"/>
                <a:cs typeface="Inter" pitchFamily="34" charset="-120"/>
              </a:rPr>
              <a:t>0.9030</a:t>
            </a:r>
            <a:endParaRPr lang="en-US" sz="1550" dirty="0"/>
          </a:p>
        </p:txBody>
      </p:sp>
      <p:sp>
        <p:nvSpPr>
          <p:cNvPr id="28" name="Text 26"/>
          <p:cNvSpPr/>
          <p:nvPr/>
        </p:nvSpPr>
        <p:spPr>
          <a:xfrm>
            <a:off x="6200894" y="5013008"/>
            <a:ext cx="2228731" cy="305514"/>
          </a:xfrm>
          <a:prstGeom prst="rect">
            <a:avLst/>
          </a:prstGeom>
          <a:noFill/>
          <a:ln/>
        </p:spPr>
        <p:txBody>
          <a:bodyPr wrap="none" lIns="0" tIns="0" rIns="0" bIns="0" rtlCol="0" anchor="t"/>
          <a:lstStyle/>
          <a:p>
            <a:pPr marL="0" indent="0" algn="l">
              <a:lnSpc>
                <a:spcPts val="2400"/>
              </a:lnSpc>
              <a:buNone/>
            </a:pPr>
            <a:r>
              <a:rPr lang="en-US" sz="1550" dirty="0">
                <a:solidFill>
                  <a:srgbClr val="272525"/>
                </a:solidFill>
                <a:latin typeface="Inter" pitchFamily="34" charset="0"/>
                <a:ea typeface="Inter" pitchFamily="34" charset="-122"/>
                <a:cs typeface="Inter" pitchFamily="34" charset="-120"/>
              </a:rPr>
              <a:t>0.9215</a:t>
            </a:r>
            <a:endParaRPr lang="en-US" sz="1550" dirty="0"/>
          </a:p>
        </p:txBody>
      </p:sp>
      <p:sp>
        <p:nvSpPr>
          <p:cNvPr id="29" name="Text 27"/>
          <p:cNvSpPr/>
          <p:nvPr/>
        </p:nvSpPr>
        <p:spPr>
          <a:xfrm>
            <a:off x="8841105" y="5013008"/>
            <a:ext cx="2228731" cy="305514"/>
          </a:xfrm>
          <a:prstGeom prst="rect">
            <a:avLst/>
          </a:prstGeom>
          <a:noFill/>
          <a:ln/>
        </p:spPr>
        <p:txBody>
          <a:bodyPr wrap="none" lIns="0" tIns="0" rIns="0" bIns="0" rtlCol="0" anchor="t"/>
          <a:lstStyle/>
          <a:p>
            <a:pPr marL="0" indent="0" algn="l">
              <a:lnSpc>
                <a:spcPts val="2400"/>
              </a:lnSpc>
              <a:buNone/>
            </a:pPr>
            <a:r>
              <a:rPr lang="en-US" sz="1550" dirty="0">
                <a:solidFill>
                  <a:srgbClr val="272525"/>
                </a:solidFill>
                <a:latin typeface="Inter" pitchFamily="34" charset="0"/>
                <a:ea typeface="Inter" pitchFamily="34" charset="-122"/>
                <a:cs typeface="Inter" pitchFamily="34" charset="-120"/>
              </a:rPr>
              <a:t>0.8450</a:t>
            </a:r>
            <a:endParaRPr lang="en-US" sz="1550" dirty="0"/>
          </a:p>
        </p:txBody>
      </p:sp>
      <p:sp>
        <p:nvSpPr>
          <p:cNvPr id="30" name="Text 28"/>
          <p:cNvSpPr/>
          <p:nvPr/>
        </p:nvSpPr>
        <p:spPr>
          <a:xfrm>
            <a:off x="11481316" y="5013008"/>
            <a:ext cx="2232541" cy="305514"/>
          </a:xfrm>
          <a:prstGeom prst="rect">
            <a:avLst/>
          </a:prstGeom>
          <a:noFill/>
          <a:ln/>
        </p:spPr>
        <p:txBody>
          <a:bodyPr wrap="none" lIns="0" tIns="0" rIns="0" bIns="0" rtlCol="0" anchor="t"/>
          <a:lstStyle/>
          <a:p>
            <a:pPr marL="0" indent="0" algn="l">
              <a:lnSpc>
                <a:spcPts val="2400"/>
              </a:lnSpc>
              <a:buNone/>
            </a:pPr>
            <a:r>
              <a:rPr lang="en-US" sz="1550" dirty="0">
                <a:solidFill>
                  <a:srgbClr val="272525"/>
                </a:solidFill>
                <a:latin typeface="Inter" pitchFamily="34" charset="0"/>
                <a:ea typeface="Inter" pitchFamily="34" charset="-122"/>
                <a:cs typeface="Inter" pitchFamily="34" charset="-120"/>
              </a:rPr>
              <a:t>−0.0275</a:t>
            </a:r>
            <a:endParaRPr lang="en-US" sz="1550" dirty="0"/>
          </a:p>
        </p:txBody>
      </p:sp>
      <p:sp>
        <p:nvSpPr>
          <p:cNvPr id="31" name="Text 29"/>
          <p:cNvSpPr/>
          <p:nvPr/>
        </p:nvSpPr>
        <p:spPr>
          <a:xfrm>
            <a:off x="916662" y="5557123"/>
            <a:ext cx="2232541" cy="305514"/>
          </a:xfrm>
          <a:prstGeom prst="rect">
            <a:avLst/>
          </a:prstGeom>
          <a:noFill/>
          <a:ln/>
        </p:spPr>
        <p:txBody>
          <a:bodyPr wrap="none" lIns="0" tIns="0" rIns="0" bIns="0" rtlCol="0" anchor="t"/>
          <a:lstStyle/>
          <a:p>
            <a:pPr marL="0" indent="0" algn="l">
              <a:lnSpc>
                <a:spcPts val="2400"/>
              </a:lnSpc>
              <a:buNone/>
            </a:pPr>
            <a:r>
              <a:rPr lang="en-US" sz="1550" dirty="0">
                <a:solidFill>
                  <a:srgbClr val="272525"/>
                </a:solidFill>
                <a:latin typeface="Inter" pitchFamily="34" charset="0"/>
                <a:ea typeface="Inter" pitchFamily="34" charset="-122"/>
                <a:cs typeface="Inter" pitchFamily="34" charset="-120"/>
              </a:rPr>
              <a:t>No PAN</a:t>
            </a:r>
            <a:endParaRPr lang="en-US" sz="1550" dirty="0"/>
          </a:p>
        </p:txBody>
      </p:sp>
      <p:sp>
        <p:nvSpPr>
          <p:cNvPr id="32" name="Text 30"/>
          <p:cNvSpPr/>
          <p:nvPr/>
        </p:nvSpPr>
        <p:spPr>
          <a:xfrm>
            <a:off x="3560683" y="5557123"/>
            <a:ext cx="2228731" cy="305514"/>
          </a:xfrm>
          <a:prstGeom prst="rect">
            <a:avLst/>
          </a:prstGeom>
          <a:noFill/>
          <a:ln/>
        </p:spPr>
        <p:txBody>
          <a:bodyPr wrap="none" lIns="0" tIns="0" rIns="0" bIns="0" rtlCol="0" anchor="t"/>
          <a:lstStyle/>
          <a:p>
            <a:pPr marL="0" indent="0" algn="l">
              <a:lnSpc>
                <a:spcPts val="2400"/>
              </a:lnSpc>
              <a:buNone/>
            </a:pPr>
            <a:r>
              <a:rPr lang="en-US" sz="1550" dirty="0">
                <a:solidFill>
                  <a:srgbClr val="272525"/>
                </a:solidFill>
                <a:latin typeface="Inter" pitchFamily="34" charset="0"/>
                <a:ea typeface="Inter" pitchFamily="34" charset="-122"/>
                <a:cs typeface="Inter" pitchFamily="34" charset="-120"/>
              </a:rPr>
              <a:t>0.9152</a:t>
            </a:r>
            <a:endParaRPr lang="en-US" sz="1550" dirty="0"/>
          </a:p>
        </p:txBody>
      </p:sp>
      <p:sp>
        <p:nvSpPr>
          <p:cNvPr id="33" name="Text 31"/>
          <p:cNvSpPr/>
          <p:nvPr/>
        </p:nvSpPr>
        <p:spPr>
          <a:xfrm>
            <a:off x="6200894" y="5557123"/>
            <a:ext cx="2228731" cy="305514"/>
          </a:xfrm>
          <a:prstGeom prst="rect">
            <a:avLst/>
          </a:prstGeom>
          <a:noFill/>
          <a:ln/>
        </p:spPr>
        <p:txBody>
          <a:bodyPr wrap="none" lIns="0" tIns="0" rIns="0" bIns="0" rtlCol="0" anchor="t"/>
          <a:lstStyle/>
          <a:p>
            <a:pPr marL="0" indent="0" algn="l">
              <a:lnSpc>
                <a:spcPts val="2400"/>
              </a:lnSpc>
              <a:buNone/>
            </a:pPr>
            <a:r>
              <a:rPr lang="en-US" sz="1550" dirty="0">
                <a:solidFill>
                  <a:srgbClr val="272525"/>
                </a:solidFill>
                <a:latin typeface="Inter" pitchFamily="34" charset="0"/>
                <a:ea typeface="Inter" pitchFamily="34" charset="-122"/>
                <a:cs typeface="Inter" pitchFamily="34" charset="-120"/>
              </a:rPr>
              <a:t>0.9360</a:t>
            </a:r>
            <a:endParaRPr lang="en-US" sz="1550" dirty="0"/>
          </a:p>
        </p:txBody>
      </p:sp>
      <p:sp>
        <p:nvSpPr>
          <p:cNvPr id="34" name="Text 32"/>
          <p:cNvSpPr/>
          <p:nvPr/>
        </p:nvSpPr>
        <p:spPr>
          <a:xfrm>
            <a:off x="8841105" y="5557123"/>
            <a:ext cx="2228731" cy="305514"/>
          </a:xfrm>
          <a:prstGeom prst="rect">
            <a:avLst/>
          </a:prstGeom>
          <a:noFill/>
          <a:ln/>
        </p:spPr>
        <p:txBody>
          <a:bodyPr wrap="none" lIns="0" tIns="0" rIns="0" bIns="0" rtlCol="0" anchor="t"/>
          <a:lstStyle/>
          <a:p>
            <a:pPr marL="0" indent="0" algn="l">
              <a:lnSpc>
                <a:spcPts val="2400"/>
              </a:lnSpc>
              <a:buNone/>
            </a:pPr>
            <a:r>
              <a:rPr lang="en-US" sz="1550" dirty="0">
                <a:solidFill>
                  <a:srgbClr val="272525"/>
                </a:solidFill>
                <a:latin typeface="Inter" pitchFamily="34" charset="0"/>
                <a:ea typeface="Inter" pitchFamily="34" charset="-122"/>
                <a:cs typeface="Inter" pitchFamily="34" charset="-120"/>
              </a:rPr>
              <a:t>0.8653</a:t>
            </a:r>
            <a:endParaRPr lang="en-US" sz="1550" dirty="0"/>
          </a:p>
        </p:txBody>
      </p:sp>
      <p:sp>
        <p:nvSpPr>
          <p:cNvPr id="35" name="Text 33"/>
          <p:cNvSpPr/>
          <p:nvPr/>
        </p:nvSpPr>
        <p:spPr>
          <a:xfrm>
            <a:off x="11481316" y="5557123"/>
            <a:ext cx="2232541" cy="305514"/>
          </a:xfrm>
          <a:prstGeom prst="rect">
            <a:avLst/>
          </a:prstGeom>
          <a:noFill/>
          <a:ln/>
        </p:spPr>
        <p:txBody>
          <a:bodyPr wrap="none" lIns="0" tIns="0" rIns="0" bIns="0" rtlCol="0" anchor="t"/>
          <a:lstStyle/>
          <a:p>
            <a:pPr marL="0" indent="0" algn="l">
              <a:lnSpc>
                <a:spcPts val="2400"/>
              </a:lnSpc>
              <a:buNone/>
            </a:pPr>
            <a:r>
              <a:rPr lang="en-US" sz="1550" dirty="0">
                <a:solidFill>
                  <a:srgbClr val="272525"/>
                </a:solidFill>
                <a:latin typeface="Inter" pitchFamily="34" charset="0"/>
                <a:ea typeface="Inter" pitchFamily="34" charset="-122"/>
                <a:cs typeface="Inter" pitchFamily="34" charset="-120"/>
              </a:rPr>
              <a:t>−0.0153</a:t>
            </a:r>
            <a:endParaRPr lang="en-US" sz="1550" dirty="0"/>
          </a:p>
        </p:txBody>
      </p:sp>
      <p:sp>
        <p:nvSpPr>
          <p:cNvPr id="36" name="Text 34"/>
          <p:cNvSpPr/>
          <p:nvPr/>
        </p:nvSpPr>
        <p:spPr>
          <a:xfrm>
            <a:off x="916662" y="6101239"/>
            <a:ext cx="2232541" cy="305514"/>
          </a:xfrm>
          <a:prstGeom prst="rect">
            <a:avLst/>
          </a:prstGeom>
          <a:noFill/>
          <a:ln/>
        </p:spPr>
        <p:txBody>
          <a:bodyPr wrap="none" lIns="0" tIns="0" rIns="0" bIns="0" rtlCol="0" anchor="t"/>
          <a:lstStyle/>
          <a:p>
            <a:pPr marL="0" indent="0" algn="l">
              <a:lnSpc>
                <a:spcPts val="2400"/>
              </a:lnSpc>
              <a:buNone/>
            </a:pPr>
            <a:r>
              <a:rPr lang="en-US" sz="1550" dirty="0">
                <a:solidFill>
                  <a:srgbClr val="272525"/>
                </a:solidFill>
                <a:latin typeface="Inter" pitchFamily="34" charset="0"/>
                <a:ea typeface="Inter" pitchFamily="34" charset="-122"/>
                <a:cs typeface="Inter" pitchFamily="34" charset="-120"/>
              </a:rPr>
              <a:t>Half Channels</a:t>
            </a:r>
            <a:endParaRPr lang="en-US" sz="1550" dirty="0"/>
          </a:p>
        </p:txBody>
      </p:sp>
      <p:sp>
        <p:nvSpPr>
          <p:cNvPr id="37" name="Text 35"/>
          <p:cNvSpPr/>
          <p:nvPr/>
        </p:nvSpPr>
        <p:spPr>
          <a:xfrm>
            <a:off x="3560683" y="6101239"/>
            <a:ext cx="2228731" cy="305514"/>
          </a:xfrm>
          <a:prstGeom prst="rect">
            <a:avLst/>
          </a:prstGeom>
          <a:noFill/>
          <a:ln/>
        </p:spPr>
        <p:txBody>
          <a:bodyPr wrap="none" lIns="0" tIns="0" rIns="0" bIns="0" rtlCol="0" anchor="t"/>
          <a:lstStyle/>
          <a:p>
            <a:pPr marL="0" indent="0" algn="l">
              <a:lnSpc>
                <a:spcPts val="2400"/>
              </a:lnSpc>
              <a:buNone/>
            </a:pPr>
            <a:r>
              <a:rPr lang="en-US" sz="1550" dirty="0">
                <a:solidFill>
                  <a:srgbClr val="272525"/>
                </a:solidFill>
                <a:latin typeface="Inter" pitchFamily="34" charset="0"/>
                <a:ea typeface="Inter" pitchFamily="34" charset="-122"/>
                <a:cs typeface="Inter" pitchFamily="34" charset="-120"/>
              </a:rPr>
              <a:t>0.9128</a:t>
            </a:r>
            <a:endParaRPr lang="en-US" sz="1550" dirty="0"/>
          </a:p>
        </p:txBody>
      </p:sp>
      <p:sp>
        <p:nvSpPr>
          <p:cNvPr id="38" name="Text 36"/>
          <p:cNvSpPr/>
          <p:nvPr/>
        </p:nvSpPr>
        <p:spPr>
          <a:xfrm>
            <a:off x="6200894" y="6101239"/>
            <a:ext cx="2228731" cy="305514"/>
          </a:xfrm>
          <a:prstGeom prst="rect">
            <a:avLst/>
          </a:prstGeom>
          <a:noFill/>
          <a:ln/>
        </p:spPr>
        <p:txBody>
          <a:bodyPr wrap="none" lIns="0" tIns="0" rIns="0" bIns="0" rtlCol="0" anchor="t"/>
          <a:lstStyle/>
          <a:p>
            <a:pPr marL="0" indent="0" algn="l">
              <a:lnSpc>
                <a:spcPts val="2400"/>
              </a:lnSpc>
              <a:buNone/>
            </a:pPr>
            <a:r>
              <a:rPr lang="en-US" sz="1550" dirty="0">
                <a:solidFill>
                  <a:srgbClr val="272525"/>
                </a:solidFill>
                <a:latin typeface="Inter" pitchFamily="34" charset="0"/>
                <a:ea typeface="Inter" pitchFamily="34" charset="-122"/>
                <a:cs typeface="Inter" pitchFamily="34" charset="-120"/>
              </a:rPr>
              <a:t>0.9324</a:t>
            </a:r>
            <a:endParaRPr lang="en-US" sz="1550" dirty="0"/>
          </a:p>
        </p:txBody>
      </p:sp>
      <p:sp>
        <p:nvSpPr>
          <p:cNvPr id="39" name="Text 37"/>
          <p:cNvSpPr/>
          <p:nvPr/>
        </p:nvSpPr>
        <p:spPr>
          <a:xfrm>
            <a:off x="8841105" y="6101239"/>
            <a:ext cx="2228731" cy="305514"/>
          </a:xfrm>
          <a:prstGeom prst="rect">
            <a:avLst/>
          </a:prstGeom>
          <a:noFill/>
          <a:ln/>
        </p:spPr>
        <p:txBody>
          <a:bodyPr wrap="none" lIns="0" tIns="0" rIns="0" bIns="0" rtlCol="0" anchor="t"/>
          <a:lstStyle/>
          <a:p>
            <a:pPr marL="0" indent="0" algn="l">
              <a:lnSpc>
                <a:spcPts val="2400"/>
              </a:lnSpc>
              <a:buNone/>
            </a:pPr>
            <a:r>
              <a:rPr lang="en-US" sz="1550" dirty="0">
                <a:solidFill>
                  <a:srgbClr val="272525"/>
                </a:solidFill>
                <a:latin typeface="Inter" pitchFamily="34" charset="0"/>
                <a:ea typeface="Inter" pitchFamily="34" charset="-122"/>
                <a:cs typeface="Inter" pitchFamily="34" charset="-120"/>
              </a:rPr>
              <a:t>0.8611</a:t>
            </a:r>
            <a:endParaRPr lang="en-US" sz="1550" dirty="0"/>
          </a:p>
        </p:txBody>
      </p:sp>
      <p:sp>
        <p:nvSpPr>
          <p:cNvPr id="40" name="Text 38"/>
          <p:cNvSpPr/>
          <p:nvPr/>
        </p:nvSpPr>
        <p:spPr>
          <a:xfrm>
            <a:off x="11481316" y="6101239"/>
            <a:ext cx="2232541" cy="305514"/>
          </a:xfrm>
          <a:prstGeom prst="rect">
            <a:avLst/>
          </a:prstGeom>
          <a:noFill/>
          <a:ln/>
        </p:spPr>
        <p:txBody>
          <a:bodyPr wrap="none" lIns="0" tIns="0" rIns="0" bIns="0" rtlCol="0" anchor="t"/>
          <a:lstStyle/>
          <a:p>
            <a:pPr marL="0" indent="0" algn="l">
              <a:lnSpc>
                <a:spcPts val="2400"/>
              </a:lnSpc>
              <a:buNone/>
            </a:pPr>
            <a:r>
              <a:rPr lang="en-US" sz="1550" dirty="0">
                <a:solidFill>
                  <a:srgbClr val="272525"/>
                </a:solidFill>
                <a:latin typeface="Inter" pitchFamily="34" charset="0"/>
                <a:ea typeface="Inter" pitchFamily="34" charset="-122"/>
                <a:cs typeface="Inter" pitchFamily="34" charset="-120"/>
              </a:rPr>
              <a:t>−0.0177</a:t>
            </a:r>
            <a:endParaRPr lang="en-US" sz="1550" dirty="0"/>
          </a:p>
        </p:txBody>
      </p:sp>
      <p:sp>
        <p:nvSpPr>
          <p:cNvPr id="41" name="Text 39"/>
          <p:cNvSpPr/>
          <p:nvPr/>
        </p:nvSpPr>
        <p:spPr>
          <a:xfrm>
            <a:off x="916662" y="6645354"/>
            <a:ext cx="2232541" cy="305514"/>
          </a:xfrm>
          <a:prstGeom prst="rect">
            <a:avLst/>
          </a:prstGeom>
          <a:noFill/>
          <a:ln/>
        </p:spPr>
        <p:txBody>
          <a:bodyPr wrap="none" lIns="0" tIns="0" rIns="0" bIns="0" rtlCol="0" anchor="t"/>
          <a:lstStyle/>
          <a:p>
            <a:pPr marL="0" indent="0" algn="l">
              <a:lnSpc>
                <a:spcPts val="2400"/>
              </a:lnSpc>
              <a:buNone/>
            </a:pPr>
            <a:r>
              <a:rPr lang="en-US" sz="1550" dirty="0">
                <a:solidFill>
                  <a:srgbClr val="272525"/>
                </a:solidFill>
                <a:latin typeface="Inter" pitchFamily="34" charset="0"/>
                <a:ea typeface="Inter" pitchFamily="34" charset="-122"/>
                <a:cs typeface="Inter" pitchFamily="34" charset="-120"/>
              </a:rPr>
              <a:t>Blur Input</a:t>
            </a:r>
            <a:endParaRPr lang="en-US" sz="1550" dirty="0"/>
          </a:p>
        </p:txBody>
      </p:sp>
      <p:sp>
        <p:nvSpPr>
          <p:cNvPr id="42" name="Text 40"/>
          <p:cNvSpPr/>
          <p:nvPr/>
        </p:nvSpPr>
        <p:spPr>
          <a:xfrm>
            <a:off x="3560683" y="6645354"/>
            <a:ext cx="2228731" cy="305514"/>
          </a:xfrm>
          <a:prstGeom prst="rect">
            <a:avLst/>
          </a:prstGeom>
          <a:noFill/>
          <a:ln/>
        </p:spPr>
        <p:txBody>
          <a:bodyPr wrap="none" lIns="0" tIns="0" rIns="0" bIns="0" rtlCol="0" anchor="t"/>
          <a:lstStyle/>
          <a:p>
            <a:pPr marL="0" indent="0" algn="l">
              <a:lnSpc>
                <a:spcPts val="2400"/>
              </a:lnSpc>
              <a:buNone/>
            </a:pPr>
            <a:r>
              <a:rPr lang="en-US" sz="1550" dirty="0">
                <a:solidFill>
                  <a:srgbClr val="272525"/>
                </a:solidFill>
                <a:latin typeface="Inter" pitchFamily="34" charset="0"/>
                <a:ea typeface="Inter" pitchFamily="34" charset="-122"/>
                <a:cs typeface="Inter" pitchFamily="34" charset="-120"/>
              </a:rPr>
              <a:t>0.9021</a:t>
            </a:r>
            <a:endParaRPr lang="en-US" sz="1550" dirty="0"/>
          </a:p>
        </p:txBody>
      </p:sp>
      <p:sp>
        <p:nvSpPr>
          <p:cNvPr id="43" name="Text 41"/>
          <p:cNvSpPr/>
          <p:nvPr/>
        </p:nvSpPr>
        <p:spPr>
          <a:xfrm>
            <a:off x="6200894" y="6645354"/>
            <a:ext cx="2228731" cy="305514"/>
          </a:xfrm>
          <a:prstGeom prst="rect">
            <a:avLst/>
          </a:prstGeom>
          <a:noFill/>
          <a:ln/>
        </p:spPr>
        <p:txBody>
          <a:bodyPr wrap="none" lIns="0" tIns="0" rIns="0" bIns="0" rtlCol="0" anchor="t"/>
          <a:lstStyle/>
          <a:p>
            <a:pPr marL="0" indent="0" algn="l">
              <a:lnSpc>
                <a:spcPts val="2400"/>
              </a:lnSpc>
              <a:buNone/>
            </a:pPr>
            <a:r>
              <a:rPr lang="en-US" sz="1550" dirty="0">
                <a:solidFill>
                  <a:srgbClr val="272525"/>
                </a:solidFill>
                <a:latin typeface="Inter" pitchFamily="34" charset="0"/>
                <a:ea typeface="Inter" pitchFamily="34" charset="-122"/>
                <a:cs typeface="Inter" pitchFamily="34" charset="-120"/>
              </a:rPr>
              <a:t>0.9203</a:t>
            </a:r>
            <a:endParaRPr lang="en-US" sz="1550" dirty="0"/>
          </a:p>
        </p:txBody>
      </p:sp>
      <p:sp>
        <p:nvSpPr>
          <p:cNvPr id="44" name="Text 42"/>
          <p:cNvSpPr/>
          <p:nvPr/>
        </p:nvSpPr>
        <p:spPr>
          <a:xfrm>
            <a:off x="8841105" y="6645354"/>
            <a:ext cx="2228731" cy="305514"/>
          </a:xfrm>
          <a:prstGeom prst="rect">
            <a:avLst/>
          </a:prstGeom>
          <a:noFill/>
          <a:ln/>
        </p:spPr>
        <p:txBody>
          <a:bodyPr wrap="none" lIns="0" tIns="0" rIns="0" bIns="0" rtlCol="0" anchor="t"/>
          <a:lstStyle/>
          <a:p>
            <a:pPr marL="0" indent="0" algn="l">
              <a:lnSpc>
                <a:spcPts val="2400"/>
              </a:lnSpc>
              <a:buNone/>
            </a:pPr>
            <a:r>
              <a:rPr lang="en-US" sz="1550" dirty="0">
                <a:solidFill>
                  <a:srgbClr val="272525"/>
                </a:solidFill>
                <a:latin typeface="Inter" pitchFamily="34" charset="0"/>
                <a:ea typeface="Inter" pitchFamily="34" charset="-122"/>
                <a:cs typeface="Inter" pitchFamily="34" charset="-120"/>
              </a:rPr>
              <a:t>0.8422</a:t>
            </a:r>
            <a:endParaRPr lang="en-US" sz="1550" dirty="0"/>
          </a:p>
        </p:txBody>
      </p:sp>
      <p:sp>
        <p:nvSpPr>
          <p:cNvPr id="45" name="Text 43"/>
          <p:cNvSpPr/>
          <p:nvPr/>
        </p:nvSpPr>
        <p:spPr>
          <a:xfrm>
            <a:off x="11481316" y="6645354"/>
            <a:ext cx="2232541" cy="305514"/>
          </a:xfrm>
          <a:prstGeom prst="rect">
            <a:avLst/>
          </a:prstGeom>
          <a:noFill/>
          <a:ln/>
        </p:spPr>
        <p:txBody>
          <a:bodyPr wrap="none" lIns="0" tIns="0" rIns="0" bIns="0" rtlCol="0" anchor="t"/>
          <a:lstStyle/>
          <a:p>
            <a:pPr marL="0" indent="0" algn="l">
              <a:lnSpc>
                <a:spcPts val="2400"/>
              </a:lnSpc>
              <a:buNone/>
            </a:pPr>
            <a:r>
              <a:rPr lang="en-US" sz="1550" dirty="0">
                <a:solidFill>
                  <a:srgbClr val="272525"/>
                </a:solidFill>
                <a:latin typeface="Inter" pitchFamily="34" charset="0"/>
                <a:ea typeface="Inter" pitchFamily="34" charset="-122"/>
                <a:cs typeface="Inter" pitchFamily="34" charset="-120"/>
              </a:rPr>
              <a:t>−0.0284</a:t>
            </a:r>
            <a:endParaRPr lang="en-US" sz="1550" dirty="0"/>
          </a:p>
        </p:txBody>
      </p:sp>
      <p:sp>
        <p:nvSpPr>
          <p:cNvPr id="46" name="Text 44"/>
          <p:cNvSpPr/>
          <p:nvPr/>
        </p:nvSpPr>
        <p:spPr>
          <a:xfrm>
            <a:off x="916662" y="7189470"/>
            <a:ext cx="2232541" cy="305514"/>
          </a:xfrm>
          <a:prstGeom prst="rect">
            <a:avLst/>
          </a:prstGeom>
          <a:noFill/>
          <a:ln/>
        </p:spPr>
        <p:txBody>
          <a:bodyPr wrap="none" lIns="0" tIns="0" rIns="0" bIns="0" rtlCol="0" anchor="t"/>
          <a:lstStyle/>
          <a:p>
            <a:pPr marL="0" indent="0" algn="l">
              <a:lnSpc>
                <a:spcPts val="2400"/>
              </a:lnSpc>
              <a:buNone/>
            </a:pPr>
            <a:r>
              <a:rPr lang="en-US" sz="1550" dirty="0">
                <a:solidFill>
                  <a:srgbClr val="272525"/>
                </a:solidFill>
                <a:latin typeface="Inter" pitchFamily="34" charset="0"/>
                <a:ea typeface="Inter" pitchFamily="34" charset="-122"/>
                <a:cs typeface="Inter" pitchFamily="34" charset="-120"/>
              </a:rPr>
              <a:t>Noise Input</a:t>
            </a:r>
            <a:endParaRPr lang="en-US" sz="1550" dirty="0"/>
          </a:p>
        </p:txBody>
      </p:sp>
      <p:sp>
        <p:nvSpPr>
          <p:cNvPr id="47" name="Text 45"/>
          <p:cNvSpPr/>
          <p:nvPr/>
        </p:nvSpPr>
        <p:spPr>
          <a:xfrm>
            <a:off x="3560683" y="7189470"/>
            <a:ext cx="2228731" cy="305514"/>
          </a:xfrm>
          <a:prstGeom prst="rect">
            <a:avLst/>
          </a:prstGeom>
          <a:noFill/>
          <a:ln/>
        </p:spPr>
        <p:txBody>
          <a:bodyPr wrap="none" lIns="0" tIns="0" rIns="0" bIns="0" rtlCol="0" anchor="t"/>
          <a:lstStyle/>
          <a:p>
            <a:pPr marL="0" indent="0" algn="l">
              <a:lnSpc>
                <a:spcPts val="2400"/>
              </a:lnSpc>
              <a:buNone/>
            </a:pPr>
            <a:r>
              <a:rPr lang="en-US" sz="1550" dirty="0">
                <a:solidFill>
                  <a:srgbClr val="272525"/>
                </a:solidFill>
                <a:latin typeface="Inter" pitchFamily="34" charset="0"/>
                <a:ea typeface="Inter" pitchFamily="34" charset="-122"/>
                <a:cs typeface="Inter" pitchFamily="34" charset="-120"/>
              </a:rPr>
              <a:t>0.8955</a:t>
            </a:r>
            <a:endParaRPr lang="en-US" sz="1550" dirty="0"/>
          </a:p>
        </p:txBody>
      </p:sp>
      <p:sp>
        <p:nvSpPr>
          <p:cNvPr id="48" name="Text 46"/>
          <p:cNvSpPr/>
          <p:nvPr/>
        </p:nvSpPr>
        <p:spPr>
          <a:xfrm>
            <a:off x="6200894" y="7189470"/>
            <a:ext cx="2228731" cy="305514"/>
          </a:xfrm>
          <a:prstGeom prst="rect">
            <a:avLst/>
          </a:prstGeom>
          <a:noFill/>
          <a:ln/>
        </p:spPr>
        <p:txBody>
          <a:bodyPr wrap="none" lIns="0" tIns="0" rIns="0" bIns="0" rtlCol="0" anchor="t"/>
          <a:lstStyle/>
          <a:p>
            <a:pPr marL="0" indent="0" algn="l">
              <a:lnSpc>
                <a:spcPts val="2400"/>
              </a:lnSpc>
              <a:buNone/>
            </a:pPr>
            <a:r>
              <a:rPr lang="en-US" sz="1550" dirty="0">
                <a:solidFill>
                  <a:srgbClr val="272525"/>
                </a:solidFill>
                <a:latin typeface="Inter" pitchFamily="34" charset="0"/>
                <a:ea typeface="Inter" pitchFamily="34" charset="-122"/>
                <a:cs typeface="Inter" pitchFamily="34" charset="-120"/>
              </a:rPr>
              <a:t>0.9158</a:t>
            </a:r>
            <a:endParaRPr lang="en-US" sz="1550" dirty="0"/>
          </a:p>
        </p:txBody>
      </p:sp>
      <p:sp>
        <p:nvSpPr>
          <p:cNvPr id="49" name="Text 47"/>
          <p:cNvSpPr/>
          <p:nvPr/>
        </p:nvSpPr>
        <p:spPr>
          <a:xfrm>
            <a:off x="8841105" y="7189470"/>
            <a:ext cx="2228731" cy="305514"/>
          </a:xfrm>
          <a:prstGeom prst="rect">
            <a:avLst/>
          </a:prstGeom>
          <a:noFill/>
          <a:ln/>
        </p:spPr>
        <p:txBody>
          <a:bodyPr wrap="none" lIns="0" tIns="0" rIns="0" bIns="0" rtlCol="0" anchor="t"/>
          <a:lstStyle/>
          <a:p>
            <a:pPr marL="0" indent="0" algn="l">
              <a:lnSpc>
                <a:spcPts val="2400"/>
              </a:lnSpc>
              <a:buNone/>
            </a:pPr>
            <a:r>
              <a:rPr lang="en-US" sz="1550" dirty="0">
                <a:solidFill>
                  <a:srgbClr val="272525"/>
                </a:solidFill>
                <a:latin typeface="Inter" pitchFamily="34" charset="0"/>
                <a:ea typeface="Inter" pitchFamily="34" charset="-122"/>
                <a:cs typeface="Inter" pitchFamily="34" charset="-120"/>
              </a:rPr>
              <a:t>0.8350</a:t>
            </a:r>
            <a:endParaRPr lang="en-US" sz="1550" dirty="0"/>
          </a:p>
        </p:txBody>
      </p:sp>
      <p:sp>
        <p:nvSpPr>
          <p:cNvPr id="50" name="Text 48"/>
          <p:cNvSpPr/>
          <p:nvPr/>
        </p:nvSpPr>
        <p:spPr>
          <a:xfrm>
            <a:off x="11481316" y="7189470"/>
            <a:ext cx="2232541" cy="305514"/>
          </a:xfrm>
          <a:prstGeom prst="rect">
            <a:avLst/>
          </a:prstGeom>
          <a:noFill/>
          <a:ln/>
        </p:spPr>
        <p:txBody>
          <a:bodyPr wrap="none" lIns="0" tIns="0" rIns="0" bIns="0" rtlCol="0" anchor="t"/>
          <a:lstStyle/>
          <a:p>
            <a:pPr marL="0" indent="0" algn="l">
              <a:lnSpc>
                <a:spcPts val="2400"/>
              </a:lnSpc>
              <a:buNone/>
            </a:pPr>
            <a:r>
              <a:rPr lang="en-US" sz="1550" dirty="0">
                <a:solidFill>
                  <a:srgbClr val="272525"/>
                </a:solidFill>
                <a:latin typeface="Inter" pitchFamily="34" charset="0"/>
                <a:ea typeface="Inter" pitchFamily="34" charset="-122"/>
                <a:cs typeface="Inter" pitchFamily="34" charset="-120"/>
              </a:rPr>
              <a:t>−0.0350</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35211" y="524470"/>
            <a:ext cx="4784646" cy="598051"/>
          </a:xfrm>
          <a:prstGeom prst="rect">
            <a:avLst/>
          </a:prstGeom>
          <a:noFill/>
          <a:ln/>
        </p:spPr>
        <p:txBody>
          <a:bodyPr wrap="none" lIns="0" tIns="0" rIns="0" bIns="0" rtlCol="0" anchor="t"/>
          <a:lstStyle/>
          <a:p>
            <a:pPr marL="0" indent="0" algn="l">
              <a:lnSpc>
                <a:spcPts val="4700"/>
              </a:lnSpc>
              <a:buNone/>
            </a:pPr>
            <a:r>
              <a:rPr lang="en-US" sz="3750" b="1" dirty="0">
                <a:solidFill>
                  <a:schemeClr val="accent1">
                    <a:lumMod val="75000"/>
                  </a:schemeClr>
                </a:solidFill>
                <a:latin typeface="Inter Bold" pitchFamily="34" charset="0"/>
                <a:ea typeface="Inter Bold" pitchFamily="34" charset="-122"/>
                <a:cs typeface="Inter Bold" pitchFamily="34" charset="-120"/>
              </a:rPr>
              <a:t>Ablation Findings</a:t>
            </a:r>
            <a:endParaRPr lang="en-US" sz="3750" dirty="0">
              <a:solidFill>
                <a:schemeClr val="accent1">
                  <a:lumMod val="75000"/>
                </a:schemeClr>
              </a:solidFill>
            </a:endParaRPr>
          </a:p>
        </p:txBody>
      </p:sp>
      <p:sp>
        <p:nvSpPr>
          <p:cNvPr id="3" name="Text 1"/>
          <p:cNvSpPr/>
          <p:nvPr/>
        </p:nvSpPr>
        <p:spPr>
          <a:xfrm>
            <a:off x="712351" y="1219319"/>
            <a:ext cx="4147304" cy="298966"/>
          </a:xfrm>
          <a:prstGeom prst="rect">
            <a:avLst/>
          </a:prstGeom>
          <a:noFill/>
          <a:ln/>
        </p:spPr>
        <p:txBody>
          <a:bodyPr wrap="none" lIns="0" tIns="0" rIns="0" bIns="0" rtlCol="0" anchor="t"/>
          <a:lstStyle/>
          <a:p>
            <a:pPr marL="0" indent="0" algn="l">
              <a:lnSpc>
                <a:spcPts val="2350"/>
              </a:lnSpc>
              <a:buNone/>
            </a:pPr>
            <a:r>
              <a:rPr lang="en-US" sz="1850" b="1" dirty="0">
                <a:solidFill>
                  <a:srgbClr val="000000"/>
                </a:solidFill>
                <a:latin typeface="Inter Bold" pitchFamily="34" charset="0"/>
                <a:ea typeface="Inter Bold" pitchFamily="34" charset="-122"/>
                <a:cs typeface="Inter Bold" pitchFamily="34" charset="-120"/>
              </a:rPr>
              <a:t>Key Insights from Ablation Analysis</a:t>
            </a:r>
            <a:endParaRPr lang="en-US" sz="1850" dirty="0"/>
          </a:p>
        </p:txBody>
      </p:sp>
      <p:sp>
        <p:nvSpPr>
          <p:cNvPr id="4" name="Shape 2"/>
          <p:cNvSpPr/>
          <p:nvPr/>
        </p:nvSpPr>
        <p:spPr>
          <a:xfrm>
            <a:off x="712351" y="1942028"/>
            <a:ext cx="3103840" cy="4291727"/>
          </a:xfrm>
          <a:prstGeom prst="roundRect">
            <a:avLst>
              <a:gd name="adj" fmla="val 3535"/>
            </a:avLst>
          </a:prstGeom>
          <a:solidFill>
            <a:srgbClr val="FFFFFF"/>
          </a:solidFill>
          <a:ln w="22860">
            <a:solidFill>
              <a:srgbClr val="C0C1D7"/>
            </a:solidFill>
            <a:prstDash val="solid"/>
          </a:ln>
        </p:spPr>
      </p:sp>
      <p:sp>
        <p:nvSpPr>
          <p:cNvPr id="5" name="Shape 3"/>
          <p:cNvSpPr/>
          <p:nvPr/>
        </p:nvSpPr>
        <p:spPr>
          <a:xfrm>
            <a:off x="689491" y="1942028"/>
            <a:ext cx="91440" cy="4291727"/>
          </a:xfrm>
          <a:prstGeom prst="roundRect">
            <a:avLst>
              <a:gd name="adj" fmla="val 87907"/>
            </a:avLst>
          </a:prstGeom>
          <a:solidFill>
            <a:srgbClr val="4950BC"/>
          </a:solidFill>
          <a:ln/>
        </p:spPr>
      </p:sp>
      <p:sp>
        <p:nvSpPr>
          <p:cNvPr id="6" name="Text 4"/>
          <p:cNvSpPr/>
          <p:nvPr/>
        </p:nvSpPr>
        <p:spPr>
          <a:xfrm>
            <a:off x="995124" y="2156222"/>
            <a:ext cx="2606873" cy="597932"/>
          </a:xfrm>
          <a:prstGeom prst="rect">
            <a:avLst/>
          </a:prstGeom>
          <a:noFill/>
          <a:ln/>
        </p:spPr>
        <p:txBody>
          <a:bodyPr wrap="square" lIns="0" tIns="0" rIns="0" bIns="0" rtlCol="0" anchor="t"/>
          <a:lstStyle/>
          <a:p>
            <a:pPr marL="0" indent="0" algn="l">
              <a:lnSpc>
                <a:spcPts val="2350"/>
              </a:lnSpc>
              <a:buNone/>
            </a:pPr>
            <a:r>
              <a:rPr lang="en-US" sz="1850" b="1" dirty="0">
                <a:solidFill>
                  <a:srgbClr val="272525"/>
                </a:solidFill>
                <a:latin typeface="Inter Bold" pitchFamily="34" charset="0"/>
                <a:ea typeface="Inter Bold" pitchFamily="34" charset="-122"/>
                <a:cs typeface="Inter Bold" pitchFamily="34" charset="-120"/>
              </a:rPr>
              <a:t>Finding 1: P3 is Critical</a:t>
            </a:r>
            <a:endParaRPr lang="en-US" sz="1850" dirty="0"/>
          </a:p>
        </p:txBody>
      </p:sp>
      <p:sp>
        <p:nvSpPr>
          <p:cNvPr id="7" name="Text 5"/>
          <p:cNvSpPr/>
          <p:nvPr/>
        </p:nvSpPr>
        <p:spPr>
          <a:xfrm>
            <a:off x="995124" y="2915603"/>
            <a:ext cx="2606873" cy="3103959"/>
          </a:xfrm>
          <a:prstGeom prst="rect">
            <a:avLst/>
          </a:prstGeom>
          <a:noFill/>
          <a:ln/>
        </p:spPr>
        <p:txBody>
          <a:bodyPr wrap="square" lIns="0" tIns="0" rIns="0" bIns="0" rtlCol="0" anchor="t"/>
          <a:lstStyle/>
          <a:p>
            <a:pPr marL="0" indent="0" algn="just">
              <a:lnSpc>
                <a:spcPts val="2200"/>
              </a:lnSpc>
              <a:buNone/>
            </a:pPr>
            <a:r>
              <a:rPr lang="en-US" sz="1500" dirty="0">
                <a:solidFill>
                  <a:srgbClr val="272525"/>
                </a:solidFill>
                <a:latin typeface="Inter" pitchFamily="34" charset="0"/>
                <a:ea typeface="Inter" pitchFamily="34" charset="-122"/>
                <a:cs typeface="Inter" pitchFamily="34" charset="-120"/>
              </a:rPr>
              <a:t>Removing P3 (small-scale feature map) caused the largest performance drop: mAP fell by 0.0695 and recall dropped sharply by 0.0892. Radar signals behave as small objects in the spectrogram domain — high-resolution spatial features are essential for detection.</a:t>
            </a:r>
            <a:endParaRPr lang="en-US" sz="1500" dirty="0"/>
          </a:p>
        </p:txBody>
      </p:sp>
      <p:sp>
        <p:nvSpPr>
          <p:cNvPr id="8" name="Shape 6"/>
          <p:cNvSpPr/>
          <p:nvPr/>
        </p:nvSpPr>
        <p:spPr>
          <a:xfrm>
            <a:off x="3977640" y="1942029"/>
            <a:ext cx="3103959" cy="4291370"/>
          </a:xfrm>
          <a:prstGeom prst="roundRect">
            <a:avLst>
              <a:gd name="adj" fmla="val 3535"/>
            </a:avLst>
          </a:prstGeom>
          <a:solidFill>
            <a:srgbClr val="FFFFFF"/>
          </a:solidFill>
          <a:ln w="22860">
            <a:solidFill>
              <a:srgbClr val="C0C1D7"/>
            </a:solidFill>
            <a:prstDash val="solid"/>
          </a:ln>
        </p:spPr>
      </p:sp>
      <p:sp>
        <p:nvSpPr>
          <p:cNvPr id="9" name="Shape 7"/>
          <p:cNvSpPr/>
          <p:nvPr/>
        </p:nvSpPr>
        <p:spPr>
          <a:xfrm>
            <a:off x="3954780" y="1942028"/>
            <a:ext cx="91440" cy="4291727"/>
          </a:xfrm>
          <a:prstGeom prst="roundRect">
            <a:avLst>
              <a:gd name="adj" fmla="val 87907"/>
            </a:avLst>
          </a:prstGeom>
          <a:solidFill>
            <a:srgbClr val="4950BC"/>
          </a:solidFill>
          <a:ln/>
        </p:spPr>
      </p:sp>
      <p:sp>
        <p:nvSpPr>
          <p:cNvPr id="10" name="Text 8"/>
          <p:cNvSpPr/>
          <p:nvPr/>
        </p:nvSpPr>
        <p:spPr>
          <a:xfrm>
            <a:off x="4260413" y="2156222"/>
            <a:ext cx="2606993" cy="597932"/>
          </a:xfrm>
          <a:prstGeom prst="rect">
            <a:avLst/>
          </a:prstGeom>
          <a:noFill/>
          <a:ln/>
        </p:spPr>
        <p:txBody>
          <a:bodyPr wrap="square" lIns="0" tIns="0" rIns="0" bIns="0" rtlCol="0" anchor="t"/>
          <a:lstStyle/>
          <a:p>
            <a:pPr marL="0" indent="0" algn="l">
              <a:lnSpc>
                <a:spcPts val="2350"/>
              </a:lnSpc>
              <a:buNone/>
            </a:pPr>
            <a:r>
              <a:rPr lang="en-US" sz="1850" b="1" dirty="0">
                <a:solidFill>
                  <a:srgbClr val="272525"/>
                </a:solidFill>
                <a:latin typeface="Inter Bold" pitchFamily="34" charset="0"/>
                <a:ea typeface="Inter Bold" pitchFamily="34" charset="-122"/>
                <a:cs typeface="Inter Bold" pitchFamily="34" charset="-120"/>
              </a:rPr>
              <a:t>Finding 2: P5 is Negligible</a:t>
            </a:r>
            <a:endParaRPr lang="en-US" sz="1850" dirty="0"/>
          </a:p>
        </p:txBody>
      </p:sp>
      <p:sp>
        <p:nvSpPr>
          <p:cNvPr id="11" name="Text 9"/>
          <p:cNvSpPr/>
          <p:nvPr/>
        </p:nvSpPr>
        <p:spPr>
          <a:xfrm>
            <a:off x="4260413" y="2915603"/>
            <a:ext cx="2606993" cy="2821781"/>
          </a:xfrm>
          <a:prstGeom prst="rect">
            <a:avLst/>
          </a:prstGeom>
          <a:noFill/>
          <a:ln/>
        </p:spPr>
        <p:txBody>
          <a:bodyPr wrap="square" lIns="0" tIns="0" rIns="0" bIns="0" rtlCol="0" anchor="t"/>
          <a:lstStyle/>
          <a:p>
            <a:pPr marL="0" indent="0" algn="just">
              <a:lnSpc>
                <a:spcPts val="2200"/>
              </a:lnSpc>
              <a:buNone/>
            </a:pPr>
            <a:r>
              <a:rPr lang="en-US" sz="1500" dirty="0">
                <a:solidFill>
                  <a:srgbClr val="272525"/>
                </a:solidFill>
                <a:latin typeface="Inter" pitchFamily="34" charset="0"/>
                <a:ea typeface="Inter" pitchFamily="34" charset="-122"/>
                <a:cs typeface="Inter" pitchFamily="34" charset="-120"/>
              </a:rPr>
              <a:t>Removing P5 (high-level semantic features) had almost no impact (ΔmAP = −0.0016). Unlike natural image detection, global semantic context is not required. Detection is driven by local structural patterns rather than high-level semantics.</a:t>
            </a:r>
            <a:endParaRPr lang="en-US" sz="1500" dirty="0"/>
          </a:p>
        </p:txBody>
      </p:sp>
      <p:sp>
        <p:nvSpPr>
          <p:cNvPr id="12" name="Shape 10"/>
          <p:cNvSpPr/>
          <p:nvPr/>
        </p:nvSpPr>
        <p:spPr>
          <a:xfrm>
            <a:off x="7556183" y="1942028"/>
            <a:ext cx="3103840" cy="4291370"/>
          </a:xfrm>
          <a:prstGeom prst="roundRect">
            <a:avLst>
              <a:gd name="adj" fmla="val 3535"/>
            </a:avLst>
          </a:prstGeom>
          <a:solidFill>
            <a:srgbClr val="FFFFFF"/>
          </a:solidFill>
          <a:ln w="22860">
            <a:solidFill>
              <a:srgbClr val="C0C1D7"/>
            </a:solidFill>
            <a:prstDash val="solid"/>
          </a:ln>
        </p:spPr>
      </p:sp>
      <p:sp>
        <p:nvSpPr>
          <p:cNvPr id="13" name="Shape 11"/>
          <p:cNvSpPr/>
          <p:nvPr/>
        </p:nvSpPr>
        <p:spPr>
          <a:xfrm>
            <a:off x="7533323" y="1942028"/>
            <a:ext cx="91439" cy="4291370"/>
          </a:xfrm>
          <a:prstGeom prst="roundRect">
            <a:avLst>
              <a:gd name="adj" fmla="val 87907"/>
            </a:avLst>
          </a:prstGeom>
          <a:solidFill>
            <a:srgbClr val="4950BC"/>
          </a:solidFill>
          <a:ln/>
        </p:spPr>
      </p:sp>
      <p:sp>
        <p:nvSpPr>
          <p:cNvPr id="14" name="Text 12"/>
          <p:cNvSpPr/>
          <p:nvPr/>
        </p:nvSpPr>
        <p:spPr>
          <a:xfrm>
            <a:off x="7838956" y="2156222"/>
            <a:ext cx="2606873" cy="597932"/>
          </a:xfrm>
          <a:prstGeom prst="rect">
            <a:avLst/>
          </a:prstGeom>
          <a:noFill/>
          <a:ln/>
        </p:spPr>
        <p:txBody>
          <a:bodyPr wrap="square" lIns="0" tIns="0" rIns="0" bIns="0" rtlCol="0" anchor="t"/>
          <a:lstStyle/>
          <a:p>
            <a:pPr marL="0" indent="0" algn="l">
              <a:lnSpc>
                <a:spcPts val="2350"/>
              </a:lnSpc>
              <a:buNone/>
            </a:pPr>
            <a:r>
              <a:rPr lang="en-US" sz="1850" b="1" dirty="0">
                <a:solidFill>
                  <a:srgbClr val="272525"/>
                </a:solidFill>
                <a:latin typeface="Inter Bold" pitchFamily="34" charset="0"/>
                <a:ea typeface="Inter Bold" pitchFamily="34" charset="-122"/>
                <a:cs typeface="Inter Bold" pitchFamily="34" charset="-120"/>
              </a:rPr>
              <a:t>Finding 3: Backbone Adaptation Matters</a:t>
            </a:r>
            <a:endParaRPr lang="en-US" sz="1850" dirty="0"/>
          </a:p>
        </p:txBody>
      </p:sp>
      <p:sp>
        <p:nvSpPr>
          <p:cNvPr id="15" name="Text 13"/>
          <p:cNvSpPr/>
          <p:nvPr/>
        </p:nvSpPr>
        <p:spPr>
          <a:xfrm>
            <a:off x="7838956" y="2915603"/>
            <a:ext cx="2606873" cy="2821781"/>
          </a:xfrm>
          <a:prstGeom prst="rect">
            <a:avLst/>
          </a:prstGeom>
          <a:noFill/>
          <a:ln/>
        </p:spPr>
        <p:txBody>
          <a:bodyPr wrap="square" lIns="0" tIns="0" rIns="0" bIns="0" rtlCol="0" anchor="t"/>
          <a:lstStyle/>
          <a:p>
            <a:pPr marL="0" indent="0" algn="just">
              <a:lnSpc>
                <a:spcPts val="2200"/>
              </a:lnSpc>
              <a:buNone/>
            </a:pPr>
            <a:r>
              <a:rPr lang="en-US" sz="1500" dirty="0">
                <a:solidFill>
                  <a:srgbClr val="272525"/>
                </a:solidFill>
                <a:latin typeface="Inter" pitchFamily="34" charset="0"/>
                <a:ea typeface="Inter" pitchFamily="34" charset="-122"/>
                <a:cs typeface="Inter" pitchFamily="34" charset="-120"/>
              </a:rPr>
              <a:t>Freezing the backbone caused a drop of ΔmAP = −0.0275. Radar spectrograms have fundamentally different statistical properties from natural images. Domain-specific fine-tuning is critical for optimal performance.</a:t>
            </a:r>
            <a:endParaRPr lang="en-US" sz="1500" dirty="0"/>
          </a:p>
        </p:txBody>
      </p:sp>
      <p:sp>
        <p:nvSpPr>
          <p:cNvPr id="16" name="Shape 14"/>
          <p:cNvSpPr/>
          <p:nvPr/>
        </p:nvSpPr>
        <p:spPr>
          <a:xfrm>
            <a:off x="10821472" y="1942028"/>
            <a:ext cx="3103959" cy="4291370"/>
          </a:xfrm>
          <a:prstGeom prst="roundRect">
            <a:avLst>
              <a:gd name="adj" fmla="val 3535"/>
            </a:avLst>
          </a:prstGeom>
          <a:solidFill>
            <a:srgbClr val="FFFFFF"/>
          </a:solidFill>
          <a:ln w="22860">
            <a:solidFill>
              <a:srgbClr val="C0C1D7"/>
            </a:solidFill>
            <a:prstDash val="solid"/>
          </a:ln>
        </p:spPr>
      </p:sp>
      <p:sp>
        <p:nvSpPr>
          <p:cNvPr id="17" name="Shape 15"/>
          <p:cNvSpPr/>
          <p:nvPr/>
        </p:nvSpPr>
        <p:spPr>
          <a:xfrm>
            <a:off x="10798612" y="1942028"/>
            <a:ext cx="75605" cy="4291370"/>
          </a:xfrm>
          <a:prstGeom prst="roundRect">
            <a:avLst>
              <a:gd name="adj" fmla="val 87907"/>
            </a:avLst>
          </a:prstGeom>
          <a:solidFill>
            <a:srgbClr val="4950BC"/>
          </a:solidFill>
          <a:ln/>
        </p:spPr>
      </p:sp>
      <p:sp>
        <p:nvSpPr>
          <p:cNvPr id="18" name="Text 16"/>
          <p:cNvSpPr/>
          <p:nvPr/>
        </p:nvSpPr>
        <p:spPr>
          <a:xfrm>
            <a:off x="11104245" y="2156222"/>
            <a:ext cx="2606993" cy="597932"/>
          </a:xfrm>
          <a:prstGeom prst="rect">
            <a:avLst/>
          </a:prstGeom>
          <a:noFill/>
          <a:ln/>
        </p:spPr>
        <p:txBody>
          <a:bodyPr wrap="square" lIns="0" tIns="0" rIns="0" bIns="0" rtlCol="0" anchor="t"/>
          <a:lstStyle/>
          <a:p>
            <a:pPr marL="0" indent="0" algn="l">
              <a:lnSpc>
                <a:spcPts val="2350"/>
              </a:lnSpc>
              <a:buNone/>
            </a:pPr>
            <a:r>
              <a:rPr lang="en-US" sz="1850" b="1" dirty="0">
                <a:solidFill>
                  <a:srgbClr val="272525"/>
                </a:solidFill>
                <a:latin typeface="Inter Bold" pitchFamily="34" charset="0"/>
                <a:ea typeface="Inter Bold" pitchFamily="34" charset="-122"/>
                <a:cs typeface="Inter Bold" pitchFamily="34" charset="-120"/>
              </a:rPr>
              <a:t>Finding 4: Noise and Blur Sensitivity</a:t>
            </a:r>
            <a:endParaRPr lang="en-US" sz="1850" dirty="0"/>
          </a:p>
        </p:txBody>
      </p:sp>
      <p:sp>
        <p:nvSpPr>
          <p:cNvPr id="19" name="Text 17"/>
          <p:cNvSpPr/>
          <p:nvPr/>
        </p:nvSpPr>
        <p:spPr>
          <a:xfrm>
            <a:off x="11104245" y="2915603"/>
            <a:ext cx="2606993" cy="2821781"/>
          </a:xfrm>
          <a:prstGeom prst="rect">
            <a:avLst/>
          </a:prstGeom>
          <a:noFill/>
          <a:ln/>
        </p:spPr>
        <p:txBody>
          <a:bodyPr wrap="square" lIns="0" tIns="0" rIns="0" bIns="0" rtlCol="0" anchor="t"/>
          <a:lstStyle/>
          <a:p>
            <a:pPr marL="0" indent="0" algn="just">
              <a:lnSpc>
                <a:spcPts val="2200"/>
              </a:lnSpc>
              <a:buNone/>
            </a:pPr>
            <a:r>
              <a:rPr lang="en-US" sz="1500" dirty="0">
                <a:solidFill>
                  <a:srgbClr val="272525"/>
                </a:solidFill>
                <a:latin typeface="Inter" pitchFamily="34" charset="0"/>
                <a:ea typeface="Inter" pitchFamily="34" charset="-122"/>
                <a:cs typeface="Inter" pitchFamily="34" charset="-120"/>
              </a:rPr>
              <a:t>Gaussian noise caused mAP to drop to 0.8955 (Δ = −0.0350); blur to 0.9021 (Δ = −0.0284). The model relies on sharp spatial precision and lacks inherent robustness to noise, indicating a need for augmentation or denoising techniques.</a:t>
            </a:r>
            <a:endParaRPr lang="en-US" sz="1500" dirty="0"/>
          </a:p>
        </p:txBody>
      </p:sp>
      <p:sp>
        <p:nvSpPr>
          <p:cNvPr id="20" name="Shape 18"/>
          <p:cNvSpPr/>
          <p:nvPr/>
        </p:nvSpPr>
        <p:spPr>
          <a:xfrm>
            <a:off x="712351" y="6596896"/>
            <a:ext cx="4294227" cy="1075849"/>
          </a:xfrm>
          <a:prstGeom prst="roundRect">
            <a:avLst>
              <a:gd name="adj" fmla="val 7472"/>
            </a:avLst>
          </a:prstGeom>
          <a:solidFill>
            <a:srgbClr val="DADBF1"/>
          </a:solidFill>
          <a:ln w="7620">
            <a:solidFill>
              <a:srgbClr val="C0C1D7"/>
            </a:solidFill>
            <a:prstDash val="solid"/>
          </a:ln>
        </p:spPr>
      </p:sp>
      <p:sp>
        <p:nvSpPr>
          <p:cNvPr id="21" name="Text 19"/>
          <p:cNvSpPr/>
          <p:nvPr/>
        </p:nvSpPr>
        <p:spPr>
          <a:xfrm>
            <a:off x="911304" y="6795849"/>
            <a:ext cx="2392323" cy="298966"/>
          </a:xfrm>
          <a:prstGeom prst="rect">
            <a:avLst/>
          </a:prstGeom>
          <a:noFill/>
          <a:ln/>
        </p:spPr>
        <p:txBody>
          <a:bodyPr wrap="none" lIns="0" tIns="0" rIns="0" bIns="0" rtlCol="0" anchor="t"/>
          <a:lstStyle/>
          <a:p>
            <a:pPr marL="0" indent="0" algn="l">
              <a:lnSpc>
                <a:spcPts val="2350"/>
              </a:lnSpc>
              <a:buNone/>
            </a:pPr>
            <a:r>
              <a:rPr lang="en-US" sz="1850" b="1" dirty="0">
                <a:solidFill>
                  <a:srgbClr val="272525"/>
                </a:solidFill>
                <a:latin typeface="Inter Bold" pitchFamily="34" charset="0"/>
                <a:ea typeface="Inter Bold" pitchFamily="34" charset="-122"/>
                <a:cs typeface="Inter Bold" pitchFamily="34" charset="-120"/>
              </a:rPr>
              <a:t>Most Critical</a:t>
            </a:r>
            <a:endParaRPr lang="en-US" sz="1850" dirty="0"/>
          </a:p>
        </p:txBody>
      </p:sp>
      <p:sp>
        <p:nvSpPr>
          <p:cNvPr id="22" name="Text 20"/>
          <p:cNvSpPr/>
          <p:nvPr/>
        </p:nvSpPr>
        <p:spPr>
          <a:xfrm>
            <a:off x="911304" y="7191613"/>
            <a:ext cx="3896320" cy="282178"/>
          </a:xfrm>
          <a:prstGeom prst="rect">
            <a:avLst/>
          </a:prstGeom>
          <a:noFill/>
          <a:ln/>
        </p:spPr>
        <p:txBody>
          <a:bodyPr wrap="none" lIns="0" tIns="0" rIns="0" bIns="0" rtlCol="0" anchor="t"/>
          <a:lstStyle/>
          <a:p>
            <a:pPr marL="0" indent="0" algn="l">
              <a:lnSpc>
                <a:spcPts val="2200"/>
              </a:lnSpc>
              <a:buNone/>
            </a:pPr>
            <a:r>
              <a:rPr lang="en-US" sz="1500" dirty="0">
                <a:solidFill>
                  <a:srgbClr val="272525"/>
                </a:solidFill>
                <a:latin typeface="Inter" pitchFamily="34" charset="0"/>
                <a:ea typeface="Inter" pitchFamily="34" charset="-122"/>
                <a:cs typeface="Inter" pitchFamily="34" charset="-120"/>
              </a:rPr>
              <a:t>P3 features, backbone adaptation</a:t>
            </a:r>
            <a:endParaRPr lang="en-US" sz="1500" dirty="0"/>
          </a:p>
        </p:txBody>
      </p:sp>
      <p:sp>
        <p:nvSpPr>
          <p:cNvPr id="23" name="Shape 21"/>
          <p:cNvSpPr/>
          <p:nvPr/>
        </p:nvSpPr>
        <p:spPr>
          <a:xfrm>
            <a:off x="5168027" y="6596896"/>
            <a:ext cx="4294227" cy="1075849"/>
          </a:xfrm>
          <a:prstGeom prst="roundRect">
            <a:avLst>
              <a:gd name="adj" fmla="val 7472"/>
            </a:avLst>
          </a:prstGeom>
          <a:solidFill>
            <a:srgbClr val="DADBF1"/>
          </a:solidFill>
          <a:ln w="7620">
            <a:solidFill>
              <a:srgbClr val="C0C1D7"/>
            </a:solidFill>
            <a:prstDash val="solid"/>
          </a:ln>
        </p:spPr>
      </p:sp>
      <p:sp>
        <p:nvSpPr>
          <p:cNvPr id="24" name="Text 22"/>
          <p:cNvSpPr/>
          <p:nvPr/>
        </p:nvSpPr>
        <p:spPr>
          <a:xfrm>
            <a:off x="5366980" y="6795849"/>
            <a:ext cx="2539484" cy="298966"/>
          </a:xfrm>
          <a:prstGeom prst="rect">
            <a:avLst/>
          </a:prstGeom>
          <a:noFill/>
          <a:ln/>
        </p:spPr>
        <p:txBody>
          <a:bodyPr wrap="none" lIns="0" tIns="0" rIns="0" bIns="0" rtlCol="0" anchor="t"/>
          <a:lstStyle/>
          <a:p>
            <a:pPr marL="0" indent="0" algn="l">
              <a:lnSpc>
                <a:spcPts val="2350"/>
              </a:lnSpc>
              <a:buNone/>
            </a:pPr>
            <a:r>
              <a:rPr lang="en-US" sz="1850" b="1" dirty="0">
                <a:solidFill>
                  <a:srgbClr val="272525"/>
                </a:solidFill>
                <a:latin typeface="Inter Bold" pitchFamily="34" charset="0"/>
                <a:ea typeface="Inter Bold" pitchFamily="34" charset="-122"/>
                <a:cs typeface="Inter Bold" pitchFamily="34" charset="-120"/>
              </a:rPr>
              <a:t>Moderately Important</a:t>
            </a:r>
            <a:endParaRPr lang="en-US" sz="1850" dirty="0"/>
          </a:p>
        </p:txBody>
      </p:sp>
      <p:sp>
        <p:nvSpPr>
          <p:cNvPr id="25" name="Text 23"/>
          <p:cNvSpPr/>
          <p:nvPr/>
        </p:nvSpPr>
        <p:spPr>
          <a:xfrm>
            <a:off x="5366980" y="7191613"/>
            <a:ext cx="3896320" cy="282178"/>
          </a:xfrm>
          <a:prstGeom prst="rect">
            <a:avLst/>
          </a:prstGeom>
          <a:noFill/>
          <a:ln/>
        </p:spPr>
        <p:txBody>
          <a:bodyPr wrap="none" lIns="0" tIns="0" rIns="0" bIns="0" rtlCol="0" anchor="t"/>
          <a:lstStyle/>
          <a:p>
            <a:pPr marL="0" indent="0" algn="l">
              <a:lnSpc>
                <a:spcPts val="2200"/>
              </a:lnSpc>
              <a:buNone/>
            </a:pPr>
            <a:r>
              <a:rPr lang="en-US" sz="1500" dirty="0">
                <a:solidFill>
                  <a:srgbClr val="272525"/>
                </a:solidFill>
                <a:latin typeface="Inter" pitchFamily="34" charset="0"/>
                <a:ea typeface="Inter" pitchFamily="34" charset="-122"/>
                <a:cs typeface="Inter" pitchFamily="34" charset="-120"/>
              </a:rPr>
              <a:t>PAN fusion, spatial fidelity</a:t>
            </a:r>
            <a:endParaRPr lang="en-US" sz="1500" dirty="0"/>
          </a:p>
        </p:txBody>
      </p:sp>
      <p:sp>
        <p:nvSpPr>
          <p:cNvPr id="26" name="Shape 24"/>
          <p:cNvSpPr/>
          <p:nvPr/>
        </p:nvSpPr>
        <p:spPr>
          <a:xfrm>
            <a:off x="9623703" y="6596896"/>
            <a:ext cx="4294227" cy="1075849"/>
          </a:xfrm>
          <a:prstGeom prst="roundRect">
            <a:avLst>
              <a:gd name="adj" fmla="val 7472"/>
            </a:avLst>
          </a:prstGeom>
          <a:solidFill>
            <a:srgbClr val="DADBF1"/>
          </a:solidFill>
          <a:ln w="7620">
            <a:solidFill>
              <a:srgbClr val="C0C1D7"/>
            </a:solidFill>
            <a:prstDash val="solid"/>
          </a:ln>
        </p:spPr>
      </p:sp>
      <p:sp>
        <p:nvSpPr>
          <p:cNvPr id="27" name="Text 25"/>
          <p:cNvSpPr/>
          <p:nvPr/>
        </p:nvSpPr>
        <p:spPr>
          <a:xfrm>
            <a:off x="9822656" y="6795849"/>
            <a:ext cx="2392323" cy="298966"/>
          </a:xfrm>
          <a:prstGeom prst="rect">
            <a:avLst/>
          </a:prstGeom>
          <a:noFill/>
          <a:ln/>
        </p:spPr>
        <p:txBody>
          <a:bodyPr wrap="none" lIns="0" tIns="0" rIns="0" bIns="0" rtlCol="0" anchor="t"/>
          <a:lstStyle/>
          <a:p>
            <a:pPr marL="0" indent="0" algn="l">
              <a:lnSpc>
                <a:spcPts val="2350"/>
              </a:lnSpc>
              <a:buNone/>
            </a:pPr>
            <a:r>
              <a:rPr lang="en-US" sz="1850" b="1" dirty="0">
                <a:solidFill>
                  <a:srgbClr val="272525"/>
                </a:solidFill>
                <a:latin typeface="Inter Bold" pitchFamily="34" charset="0"/>
                <a:ea typeface="Inter Bold" pitchFamily="34" charset="-122"/>
                <a:cs typeface="Inter Bold" pitchFamily="34" charset="-120"/>
              </a:rPr>
              <a:t>Less Important</a:t>
            </a:r>
            <a:endParaRPr lang="en-US" sz="1850" dirty="0"/>
          </a:p>
        </p:txBody>
      </p:sp>
      <p:sp>
        <p:nvSpPr>
          <p:cNvPr id="28" name="Text 26"/>
          <p:cNvSpPr/>
          <p:nvPr/>
        </p:nvSpPr>
        <p:spPr>
          <a:xfrm>
            <a:off x="9822656" y="7191613"/>
            <a:ext cx="3896320" cy="282178"/>
          </a:xfrm>
          <a:prstGeom prst="rect">
            <a:avLst/>
          </a:prstGeom>
          <a:noFill/>
          <a:ln/>
        </p:spPr>
        <p:txBody>
          <a:bodyPr wrap="none" lIns="0" tIns="0" rIns="0" bIns="0" rtlCol="0" anchor="t"/>
          <a:lstStyle/>
          <a:p>
            <a:pPr marL="0" indent="0" algn="l">
              <a:lnSpc>
                <a:spcPts val="2200"/>
              </a:lnSpc>
              <a:buNone/>
            </a:pPr>
            <a:r>
              <a:rPr lang="en-US" sz="1500" dirty="0">
                <a:solidFill>
                  <a:srgbClr val="272525"/>
                </a:solidFill>
                <a:latin typeface="Inter" pitchFamily="34" charset="0"/>
                <a:ea typeface="Inter" pitchFamily="34" charset="-122"/>
                <a:cs typeface="Inter" pitchFamily="34" charset="-120"/>
              </a:rPr>
              <a:t>P5 semantics, channel count</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9318" y="1548246"/>
            <a:ext cx="11454448" cy="5883332"/>
          </a:xfrm>
          <a:prstGeom prst="rect">
            <a:avLst/>
          </a:prstGeom>
          <a:solidFill>
            <a:schemeClr val="bg1"/>
          </a:solidFill>
        </p:spPr>
      </p:pic>
      <p:sp>
        <p:nvSpPr>
          <p:cNvPr id="3" name="TextBox 2">
            <a:extLst>
              <a:ext uri="{FF2B5EF4-FFF2-40B4-BE49-F238E27FC236}">
                <a16:creationId xmlns:a16="http://schemas.microsoft.com/office/drawing/2014/main" id="{2526EEB3-5CA0-0CC6-E0E8-1A883D98F662}"/>
              </a:ext>
            </a:extLst>
          </p:cNvPr>
          <p:cNvSpPr txBox="1"/>
          <p:nvPr/>
        </p:nvSpPr>
        <p:spPr>
          <a:xfrm>
            <a:off x="644236" y="475905"/>
            <a:ext cx="5496791" cy="669414"/>
          </a:xfrm>
          <a:prstGeom prst="rect">
            <a:avLst/>
          </a:prstGeom>
          <a:noFill/>
        </p:spPr>
        <p:txBody>
          <a:bodyPr wrap="square" rtlCol="0">
            <a:spAutoFit/>
          </a:bodyPr>
          <a:lstStyle/>
          <a:p>
            <a:r>
              <a:rPr lang="en-IN" sz="3750" b="1" dirty="0">
                <a:solidFill>
                  <a:schemeClr val="accent1">
                    <a:lumMod val="75000"/>
                  </a:schemeClr>
                </a:solidFill>
                <a:latin typeface="Aptos" panose="020B0004020202020204" pitchFamily="34" charset="0"/>
              </a:rPr>
              <a:t>Ablation</a:t>
            </a:r>
            <a:r>
              <a:rPr lang="en-IN" sz="3750" b="1" dirty="0">
                <a:solidFill>
                  <a:schemeClr val="accent1">
                    <a:lumMod val="75000"/>
                  </a:schemeClr>
                </a:solidFill>
                <a:latin typeface="Inter Bold"/>
              </a:rPr>
              <a:t> Study graph :</a:t>
            </a:r>
          </a:p>
        </p:txBody>
      </p:sp>
    </p:spTree>
    <p:extLst>
      <p:ext uri="{BB962C8B-B14F-4D97-AF65-F5344CB8AC3E}">
        <p14:creationId xmlns:p14="http://schemas.microsoft.com/office/powerpoint/2010/main" val="31446668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52250" y="660320"/>
            <a:ext cx="7200781" cy="686633"/>
          </a:xfrm>
          <a:prstGeom prst="rect">
            <a:avLst/>
          </a:prstGeom>
          <a:noFill/>
          <a:ln/>
        </p:spPr>
        <p:txBody>
          <a:bodyPr wrap="none" lIns="0" tIns="0" rIns="0" bIns="0" rtlCol="0" anchor="t"/>
          <a:lstStyle/>
          <a:p>
            <a:pPr marL="0" indent="0" algn="l">
              <a:lnSpc>
                <a:spcPts val="5400"/>
              </a:lnSpc>
              <a:buNone/>
            </a:pPr>
            <a:r>
              <a:rPr lang="en-US" sz="4300" b="1" dirty="0">
                <a:solidFill>
                  <a:schemeClr val="accent1">
                    <a:lumMod val="75000"/>
                  </a:schemeClr>
                </a:solidFill>
                <a:latin typeface="Inter Bold" pitchFamily="34" charset="0"/>
                <a:ea typeface="Inter Bold" pitchFamily="34" charset="-122"/>
                <a:cs typeface="Inter Bold" pitchFamily="34" charset="-120"/>
              </a:rPr>
              <a:t>Hybrid</a:t>
            </a:r>
            <a:r>
              <a:rPr lang="en-US" sz="4300" b="1" dirty="0">
                <a:solidFill>
                  <a:srgbClr val="000000"/>
                </a:solidFill>
                <a:latin typeface="Inter Bold" pitchFamily="34" charset="0"/>
                <a:ea typeface="Inter Bold" pitchFamily="34" charset="-122"/>
                <a:cs typeface="Inter Bold" pitchFamily="34" charset="-120"/>
              </a:rPr>
              <a:t> </a:t>
            </a:r>
            <a:r>
              <a:rPr lang="en-US" sz="4300" b="1" dirty="0">
                <a:solidFill>
                  <a:schemeClr val="accent1">
                    <a:lumMod val="75000"/>
                  </a:schemeClr>
                </a:solidFill>
                <a:latin typeface="Inter Bold" pitchFamily="34" charset="0"/>
                <a:ea typeface="Inter Bold" pitchFamily="34" charset="-122"/>
                <a:cs typeface="Inter Bold" pitchFamily="34" charset="-120"/>
              </a:rPr>
              <a:t>Ensemble</a:t>
            </a:r>
            <a:r>
              <a:rPr lang="en-US" sz="4300" b="1" dirty="0">
                <a:solidFill>
                  <a:srgbClr val="000000"/>
                </a:solidFill>
                <a:latin typeface="Inter Bold" pitchFamily="34" charset="0"/>
                <a:ea typeface="Inter Bold" pitchFamily="34" charset="-122"/>
                <a:cs typeface="Inter Bold" pitchFamily="34" charset="-120"/>
              </a:rPr>
              <a:t> </a:t>
            </a:r>
            <a:r>
              <a:rPr lang="en-US" sz="4300" b="1" dirty="0">
                <a:solidFill>
                  <a:schemeClr val="accent1">
                    <a:lumMod val="75000"/>
                  </a:schemeClr>
                </a:solidFill>
                <a:latin typeface="Inter Bold" pitchFamily="34" charset="0"/>
                <a:ea typeface="Inter Bold" pitchFamily="34" charset="-122"/>
                <a:cs typeface="Inter Bold" pitchFamily="34" charset="-120"/>
              </a:rPr>
              <a:t>&amp;</a:t>
            </a:r>
            <a:r>
              <a:rPr lang="en-US" sz="4300" b="1" dirty="0">
                <a:solidFill>
                  <a:srgbClr val="000000"/>
                </a:solidFill>
                <a:latin typeface="Inter Bold" pitchFamily="34" charset="0"/>
                <a:ea typeface="Inter Bold" pitchFamily="34" charset="-122"/>
                <a:cs typeface="Inter Bold" pitchFamily="34" charset="-120"/>
              </a:rPr>
              <a:t> </a:t>
            </a:r>
            <a:r>
              <a:rPr lang="en-US" sz="4300" b="1" dirty="0">
                <a:solidFill>
                  <a:schemeClr val="accent1">
                    <a:lumMod val="75000"/>
                  </a:schemeClr>
                </a:solidFill>
                <a:latin typeface="Inter Bold" pitchFamily="34" charset="0"/>
                <a:ea typeface="Inter Bold" pitchFamily="34" charset="-122"/>
                <a:cs typeface="Inter Bold" pitchFamily="34" charset="-120"/>
              </a:rPr>
              <a:t>Results</a:t>
            </a:r>
            <a:endParaRPr lang="en-US" sz="4300" dirty="0">
              <a:solidFill>
                <a:schemeClr val="accent1">
                  <a:lumMod val="75000"/>
                </a:schemeClr>
              </a:solidFill>
            </a:endParaRPr>
          </a:p>
        </p:txBody>
      </p:sp>
      <p:sp>
        <p:nvSpPr>
          <p:cNvPr id="3" name="Text 1"/>
          <p:cNvSpPr/>
          <p:nvPr/>
        </p:nvSpPr>
        <p:spPr>
          <a:xfrm>
            <a:off x="769025" y="1587066"/>
            <a:ext cx="9309378" cy="343257"/>
          </a:xfrm>
          <a:prstGeom prst="rect">
            <a:avLst/>
          </a:prstGeom>
          <a:noFill/>
          <a:ln/>
        </p:spPr>
        <p:txBody>
          <a:bodyPr wrap="none" lIns="0" tIns="0" rIns="0" bIns="0" rtlCol="0" anchor="t"/>
          <a:lstStyle/>
          <a:p>
            <a:pPr marL="0" indent="0" algn="l">
              <a:lnSpc>
                <a:spcPts val="2700"/>
              </a:lnSpc>
              <a:buNone/>
            </a:pPr>
            <a:r>
              <a:rPr lang="en-US" sz="2150" b="1" dirty="0">
                <a:solidFill>
                  <a:srgbClr val="000000"/>
                </a:solidFill>
                <a:latin typeface="Inter Bold" pitchFamily="34" charset="0"/>
                <a:ea typeface="Inter Bold" pitchFamily="34" charset="-122"/>
                <a:cs typeface="Inter Bold" pitchFamily="34" charset="-120"/>
              </a:rPr>
              <a:t>Ensemble Framework — WBF: YOLOv8s + RT-DETR | RADDet NIST512</a:t>
            </a:r>
            <a:endParaRPr lang="en-US" sz="2150" dirty="0"/>
          </a:p>
        </p:txBody>
      </p:sp>
      <p:sp>
        <p:nvSpPr>
          <p:cNvPr id="4" name="Text 2"/>
          <p:cNvSpPr/>
          <p:nvPr/>
        </p:nvSpPr>
        <p:spPr>
          <a:xfrm>
            <a:off x="769025" y="2267783"/>
            <a:ext cx="7640955" cy="1730573"/>
          </a:xfrm>
          <a:prstGeom prst="rect">
            <a:avLst/>
          </a:prstGeom>
          <a:noFill/>
          <a:ln/>
        </p:spPr>
        <p:txBody>
          <a:bodyPr wrap="square" lIns="0" tIns="0" rIns="0" bIns="0" rtlCol="0" anchor="t"/>
          <a:lstStyle/>
          <a:p>
            <a:pPr marL="0" indent="0" algn="just">
              <a:lnSpc>
                <a:spcPts val="2700"/>
              </a:lnSpc>
              <a:buNone/>
            </a:pPr>
            <a:r>
              <a:rPr lang="en-US" sz="1700" dirty="0">
                <a:solidFill>
                  <a:srgbClr val="272525"/>
                </a:solidFill>
                <a:latin typeface="Inter" pitchFamily="34" charset="0"/>
                <a:ea typeface="Inter" pitchFamily="34" charset="-122"/>
                <a:cs typeface="Inter" pitchFamily="34" charset="-120"/>
              </a:rPr>
              <a:t>A hybrid ensemble was constructed by combining predictions from multiple detectors using a fusion strategy (Weighted Box Fusion). The ensemble achieves higher mAP and significantly improves recall, indicating reduced missed detections through complementary model strengths.</a:t>
            </a:r>
            <a:endParaRPr lang="en-US" sz="1700" dirty="0"/>
          </a:p>
        </p:txBody>
      </p:sp>
      <p:sp>
        <p:nvSpPr>
          <p:cNvPr id="5" name="Shape 3"/>
          <p:cNvSpPr/>
          <p:nvPr/>
        </p:nvSpPr>
        <p:spPr>
          <a:xfrm>
            <a:off x="541735" y="4237792"/>
            <a:ext cx="7037626" cy="2572583"/>
          </a:xfrm>
          <a:prstGeom prst="roundRect">
            <a:avLst>
              <a:gd name="adj" fmla="val 3587"/>
            </a:avLst>
          </a:prstGeom>
          <a:noFill/>
          <a:ln w="7620">
            <a:solidFill>
              <a:srgbClr val="000000">
                <a:alpha val="8000"/>
              </a:srgbClr>
            </a:solidFill>
            <a:prstDash val="solid"/>
          </a:ln>
          <a:scene3d>
            <a:camera prst="orthographicFront"/>
            <a:lightRig rig="threePt" dir="t"/>
          </a:scene3d>
          <a:sp3d>
            <a:bevelT prst="angle"/>
          </a:sp3d>
        </p:spPr>
      </p:sp>
      <p:sp>
        <p:nvSpPr>
          <p:cNvPr id="6" name="Text 4"/>
          <p:cNvSpPr/>
          <p:nvPr/>
        </p:nvSpPr>
        <p:spPr>
          <a:xfrm>
            <a:off x="996315" y="4380667"/>
            <a:ext cx="1463278" cy="346115"/>
          </a:xfrm>
          <a:prstGeom prst="rect">
            <a:avLst/>
          </a:prstGeom>
          <a:noFill/>
          <a:ln/>
        </p:spPr>
        <p:txBody>
          <a:bodyPr wrap="none" lIns="0" tIns="0" rIns="0" bIns="0" rtlCol="0" anchor="t"/>
          <a:lstStyle/>
          <a:p>
            <a:pPr marL="0" indent="0" algn="l">
              <a:lnSpc>
                <a:spcPts val="2700"/>
              </a:lnSpc>
              <a:buNone/>
            </a:pPr>
            <a:r>
              <a:rPr lang="en-US" sz="1700" b="1" dirty="0">
                <a:solidFill>
                  <a:srgbClr val="272525"/>
                </a:solidFill>
                <a:latin typeface="Inter" pitchFamily="34" charset="0"/>
                <a:ea typeface="Inter" pitchFamily="34" charset="-122"/>
                <a:cs typeface="Inter" pitchFamily="34" charset="-120"/>
              </a:rPr>
              <a:t>Model</a:t>
            </a:r>
            <a:endParaRPr lang="en-US" sz="1700" dirty="0"/>
          </a:p>
        </p:txBody>
      </p:sp>
      <p:sp>
        <p:nvSpPr>
          <p:cNvPr id="7" name="Text 5"/>
          <p:cNvSpPr/>
          <p:nvPr/>
        </p:nvSpPr>
        <p:spPr>
          <a:xfrm>
            <a:off x="2906554" y="4380667"/>
            <a:ext cx="1459468" cy="346115"/>
          </a:xfrm>
          <a:prstGeom prst="rect">
            <a:avLst/>
          </a:prstGeom>
          <a:noFill/>
          <a:ln/>
        </p:spPr>
        <p:txBody>
          <a:bodyPr wrap="none" lIns="0" tIns="0" rIns="0" bIns="0" rtlCol="0" anchor="t"/>
          <a:lstStyle/>
          <a:p>
            <a:pPr marL="0" indent="0" algn="l">
              <a:lnSpc>
                <a:spcPts val="2700"/>
              </a:lnSpc>
              <a:buNone/>
            </a:pPr>
            <a:r>
              <a:rPr lang="en-US" sz="1700" b="1" dirty="0">
                <a:solidFill>
                  <a:srgbClr val="272525"/>
                </a:solidFill>
                <a:latin typeface="Inter" pitchFamily="34" charset="0"/>
                <a:ea typeface="Inter" pitchFamily="34" charset="-122"/>
                <a:cs typeface="Inter" pitchFamily="34" charset="-120"/>
              </a:rPr>
              <a:t>mAP50</a:t>
            </a:r>
            <a:endParaRPr lang="en-US" sz="1700" dirty="0"/>
          </a:p>
        </p:txBody>
      </p:sp>
      <p:sp>
        <p:nvSpPr>
          <p:cNvPr id="8" name="Text 6"/>
          <p:cNvSpPr/>
          <p:nvPr/>
        </p:nvSpPr>
        <p:spPr>
          <a:xfrm>
            <a:off x="4812982" y="4380667"/>
            <a:ext cx="1459468" cy="346115"/>
          </a:xfrm>
          <a:prstGeom prst="rect">
            <a:avLst/>
          </a:prstGeom>
          <a:noFill/>
          <a:ln/>
        </p:spPr>
        <p:txBody>
          <a:bodyPr wrap="none" lIns="0" tIns="0" rIns="0" bIns="0" rtlCol="0" anchor="t"/>
          <a:lstStyle/>
          <a:p>
            <a:pPr marL="0" indent="0" algn="l">
              <a:lnSpc>
                <a:spcPts val="2700"/>
              </a:lnSpc>
              <a:buNone/>
            </a:pPr>
            <a:r>
              <a:rPr lang="en-US" sz="1700" b="1" dirty="0">
                <a:solidFill>
                  <a:srgbClr val="272525"/>
                </a:solidFill>
                <a:latin typeface="Inter" pitchFamily="34" charset="0"/>
                <a:ea typeface="Inter" pitchFamily="34" charset="-122"/>
                <a:cs typeface="Inter" pitchFamily="34" charset="-120"/>
              </a:rPr>
              <a:t>Precision</a:t>
            </a:r>
            <a:endParaRPr lang="en-US" sz="1700" dirty="0"/>
          </a:p>
        </p:txBody>
      </p:sp>
      <p:sp>
        <p:nvSpPr>
          <p:cNvPr id="9" name="Text 7"/>
          <p:cNvSpPr/>
          <p:nvPr/>
        </p:nvSpPr>
        <p:spPr>
          <a:xfrm>
            <a:off x="6719411" y="4380667"/>
            <a:ext cx="1463278" cy="346115"/>
          </a:xfrm>
          <a:prstGeom prst="rect">
            <a:avLst/>
          </a:prstGeom>
          <a:noFill/>
          <a:ln/>
        </p:spPr>
        <p:txBody>
          <a:bodyPr wrap="none" lIns="0" tIns="0" rIns="0" bIns="0" rtlCol="0" anchor="t"/>
          <a:lstStyle/>
          <a:p>
            <a:pPr marL="0" indent="0" algn="l">
              <a:lnSpc>
                <a:spcPts val="2700"/>
              </a:lnSpc>
              <a:buNone/>
            </a:pPr>
            <a:r>
              <a:rPr lang="en-US" sz="1700" b="1" dirty="0">
                <a:solidFill>
                  <a:srgbClr val="272525"/>
                </a:solidFill>
                <a:latin typeface="Inter" pitchFamily="34" charset="0"/>
                <a:ea typeface="Inter" pitchFamily="34" charset="-122"/>
                <a:cs typeface="Inter" pitchFamily="34" charset="-120"/>
              </a:rPr>
              <a:t>Recall</a:t>
            </a:r>
            <a:endParaRPr lang="en-US" sz="1700" dirty="0"/>
          </a:p>
        </p:txBody>
      </p:sp>
      <p:sp>
        <p:nvSpPr>
          <p:cNvPr id="10" name="Text 8"/>
          <p:cNvSpPr/>
          <p:nvPr/>
        </p:nvSpPr>
        <p:spPr>
          <a:xfrm>
            <a:off x="996315" y="5004911"/>
            <a:ext cx="1463278" cy="692229"/>
          </a:xfrm>
          <a:prstGeom prst="rect">
            <a:avLst/>
          </a:prstGeom>
          <a:noFill/>
          <a:ln/>
        </p:spPr>
        <p:txBody>
          <a:bodyPr wrap="square" lIns="0" tIns="0" rIns="0" bIns="0" rtlCol="0" anchor="t"/>
          <a:lstStyle/>
          <a:p>
            <a:pPr marL="0" indent="0" algn="l">
              <a:lnSpc>
                <a:spcPts val="2700"/>
              </a:lnSpc>
              <a:buNone/>
            </a:pPr>
            <a:r>
              <a:rPr lang="en-US" sz="1700" dirty="0">
                <a:solidFill>
                  <a:srgbClr val="272525"/>
                </a:solidFill>
                <a:latin typeface="Inter" pitchFamily="34" charset="0"/>
                <a:ea typeface="Inter" pitchFamily="34" charset="-122"/>
                <a:cs typeface="Inter" pitchFamily="34" charset="-120"/>
              </a:rPr>
              <a:t>YOLOv8 (Baseline)</a:t>
            </a:r>
            <a:endParaRPr lang="en-US" sz="1700" dirty="0"/>
          </a:p>
        </p:txBody>
      </p:sp>
      <p:sp>
        <p:nvSpPr>
          <p:cNvPr id="11" name="Text 9"/>
          <p:cNvSpPr/>
          <p:nvPr/>
        </p:nvSpPr>
        <p:spPr>
          <a:xfrm>
            <a:off x="2906554" y="5004911"/>
            <a:ext cx="1459468" cy="346115"/>
          </a:xfrm>
          <a:prstGeom prst="rect">
            <a:avLst/>
          </a:prstGeom>
          <a:noFill/>
          <a:ln/>
        </p:spPr>
        <p:txBody>
          <a:bodyPr wrap="none" lIns="0" tIns="0" rIns="0" bIns="0" rtlCol="0" anchor="t"/>
          <a:lstStyle/>
          <a:p>
            <a:pPr marL="0" indent="0" algn="l">
              <a:lnSpc>
                <a:spcPts val="2700"/>
              </a:lnSpc>
              <a:buNone/>
            </a:pPr>
            <a:r>
              <a:rPr lang="en-US" sz="1700" dirty="0">
                <a:solidFill>
                  <a:srgbClr val="272525"/>
                </a:solidFill>
                <a:latin typeface="Inter" pitchFamily="34" charset="0"/>
                <a:ea typeface="Inter" pitchFamily="34" charset="-122"/>
                <a:cs typeface="Inter" pitchFamily="34" charset="-120"/>
              </a:rPr>
              <a:t>0.9305</a:t>
            </a:r>
            <a:endParaRPr lang="en-US" sz="1700" dirty="0"/>
          </a:p>
        </p:txBody>
      </p:sp>
      <p:sp>
        <p:nvSpPr>
          <p:cNvPr id="12" name="Text 10"/>
          <p:cNvSpPr/>
          <p:nvPr/>
        </p:nvSpPr>
        <p:spPr>
          <a:xfrm>
            <a:off x="4812982" y="5004911"/>
            <a:ext cx="1459468" cy="346115"/>
          </a:xfrm>
          <a:prstGeom prst="rect">
            <a:avLst/>
          </a:prstGeom>
          <a:noFill/>
          <a:ln/>
        </p:spPr>
        <p:txBody>
          <a:bodyPr wrap="none" lIns="0" tIns="0" rIns="0" bIns="0" rtlCol="0" anchor="t"/>
          <a:lstStyle/>
          <a:p>
            <a:pPr marL="0" indent="0" algn="l">
              <a:lnSpc>
                <a:spcPts val="2700"/>
              </a:lnSpc>
              <a:buNone/>
            </a:pPr>
            <a:r>
              <a:rPr lang="en-US" sz="1700" dirty="0">
                <a:solidFill>
                  <a:srgbClr val="272525"/>
                </a:solidFill>
                <a:latin typeface="Inter" pitchFamily="34" charset="0"/>
                <a:ea typeface="Inter" pitchFamily="34" charset="-122"/>
                <a:cs typeface="Inter" pitchFamily="34" charset="-120"/>
              </a:rPr>
              <a:t>0.9527</a:t>
            </a:r>
            <a:endParaRPr lang="en-US" sz="1700" dirty="0"/>
          </a:p>
        </p:txBody>
      </p:sp>
      <p:sp>
        <p:nvSpPr>
          <p:cNvPr id="13" name="Text 11"/>
          <p:cNvSpPr/>
          <p:nvPr/>
        </p:nvSpPr>
        <p:spPr>
          <a:xfrm>
            <a:off x="6719411" y="5004911"/>
            <a:ext cx="1463278" cy="346115"/>
          </a:xfrm>
          <a:prstGeom prst="rect">
            <a:avLst/>
          </a:prstGeom>
          <a:noFill/>
          <a:ln/>
        </p:spPr>
        <p:txBody>
          <a:bodyPr wrap="none" lIns="0" tIns="0" rIns="0" bIns="0" rtlCol="0" anchor="t"/>
          <a:lstStyle/>
          <a:p>
            <a:pPr marL="0" indent="0" algn="l">
              <a:lnSpc>
                <a:spcPts val="2700"/>
              </a:lnSpc>
              <a:buNone/>
            </a:pPr>
            <a:r>
              <a:rPr lang="en-US" sz="1700" dirty="0">
                <a:solidFill>
                  <a:srgbClr val="272525"/>
                </a:solidFill>
                <a:latin typeface="Inter" pitchFamily="34" charset="0"/>
                <a:ea typeface="Inter" pitchFamily="34" charset="-122"/>
                <a:cs typeface="Inter" pitchFamily="34" charset="-120"/>
              </a:rPr>
              <a:t>0.8917</a:t>
            </a:r>
            <a:endParaRPr lang="en-US" sz="1700" dirty="0"/>
          </a:p>
        </p:txBody>
      </p:sp>
      <p:sp>
        <p:nvSpPr>
          <p:cNvPr id="14" name="Text 12"/>
          <p:cNvSpPr/>
          <p:nvPr/>
        </p:nvSpPr>
        <p:spPr>
          <a:xfrm>
            <a:off x="996315" y="5975271"/>
            <a:ext cx="1463278" cy="692229"/>
          </a:xfrm>
          <a:prstGeom prst="rect">
            <a:avLst/>
          </a:prstGeom>
          <a:noFill/>
          <a:ln/>
        </p:spPr>
        <p:txBody>
          <a:bodyPr wrap="square" lIns="0" tIns="0" rIns="0" bIns="0" rtlCol="0" anchor="t"/>
          <a:lstStyle/>
          <a:p>
            <a:pPr marL="0" indent="0" algn="l">
              <a:lnSpc>
                <a:spcPts val="2700"/>
              </a:lnSpc>
              <a:buNone/>
            </a:pPr>
            <a:r>
              <a:rPr lang="en-US" sz="1700" dirty="0">
                <a:solidFill>
                  <a:srgbClr val="272525"/>
                </a:solidFill>
                <a:latin typeface="Inter" pitchFamily="34" charset="0"/>
                <a:ea typeface="Inter" pitchFamily="34" charset="-122"/>
                <a:cs typeface="Inter" pitchFamily="34" charset="-120"/>
              </a:rPr>
              <a:t>Ensemble (Hybrid)</a:t>
            </a:r>
            <a:endParaRPr lang="en-US" sz="1700" dirty="0"/>
          </a:p>
        </p:txBody>
      </p:sp>
      <p:sp>
        <p:nvSpPr>
          <p:cNvPr id="15" name="Text 13"/>
          <p:cNvSpPr/>
          <p:nvPr/>
        </p:nvSpPr>
        <p:spPr>
          <a:xfrm>
            <a:off x="2906554" y="5975271"/>
            <a:ext cx="1459468" cy="346115"/>
          </a:xfrm>
          <a:prstGeom prst="rect">
            <a:avLst/>
          </a:prstGeom>
          <a:noFill/>
          <a:ln/>
        </p:spPr>
        <p:txBody>
          <a:bodyPr wrap="none" lIns="0" tIns="0" rIns="0" bIns="0" rtlCol="0" anchor="t"/>
          <a:lstStyle/>
          <a:p>
            <a:pPr marL="0" indent="0" algn="l">
              <a:lnSpc>
                <a:spcPts val="2700"/>
              </a:lnSpc>
              <a:buNone/>
            </a:pPr>
            <a:r>
              <a:rPr lang="en-US" sz="1700" dirty="0">
                <a:solidFill>
                  <a:srgbClr val="272525"/>
                </a:solidFill>
                <a:latin typeface="Inter" pitchFamily="34" charset="0"/>
                <a:ea typeface="Inter" pitchFamily="34" charset="-122"/>
                <a:cs typeface="Inter" pitchFamily="34" charset="-120"/>
              </a:rPr>
              <a:t>0.9436</a:t>
            </a:r>
            <a:endParaRPr lang="en-US" sz="1700" dirty="0"/>
          </a:p>
        </p:txBody>
      </p:sp>
      <p:sp>
        <p:nvSpPr>
          <p:cNvPr id="16" name="Text 14"/>
          <p:cNvSpPr/>
          <p:nvPr/>
        </p:nvSpPr>
        <p:spPr>
          <a:xfrm>
            <a:off x="4812982" y="5975271"/>
            <a:ext cx="1459468" cy="346115"/>
          </a:xfrm>
          <a:prstGeom prst="rect">
            <a:avLst/>
          </a:prstGeom>
          <a:noFill/>
          <a:ln/>
        </p:spPr>
        <p:txBody>
          <a:bodyPr wrap="none" lIns="0" tIns="0" rIns="0" bIns="0" rtlCol="0" anchor="t"/>
          <a:lstStyle/>
          <a:p>
            <a:pPr marL="0" indent="0" algn="l">
              <a:lnSpc>
                <a:spcPts val="2700"/>
              </a:lnSpc>
              <a:buNone/>
            </a:pPr>
            <a:r>
              <a:rPr lang="en-US" sz="1700" dirty="0">
                <a:solidFill>
                  <a:srgbClr val="272525"/>
                </a:solidFill>
                <a:latin typeface="Inter" pitchFamily="34" charset="0"/>
                <a:ea typeface="Inter" pitchFamily="34" charset="-122"/>
                <a:cs typeface="Inter" pitchFamily="34" charset="-120"/>
              </a:rPr>
              <a:t>0.9471</a:t>
            </a:r>
            <a:endParaRPr lang="en-US" sz="1700" dirty="0"/>
          </a:p>
        </p:txBody>
      </p:sp>
      <p:sp>
        <p:nvSpPr>
          <p:cNvPr id="17" name="Text 15"/>
          <p:cNvSpPr/>
          <p:nvPr/>
        </p:nvSpPr>
        <p:spPr>
          <a:xfrm>
            <a:off x="6719411" y="5975271"/>
            <a:ext cx="1463278" cy="346115"/>
          </a:xfrm>
          <a:prstGeom prst="rect">
            <a:avLst/>
          </a:prstGeom>
          <a:noFill/>
          <a:ln/>
        </p:spPr>
        <p:txBody>
          <a:bodyPr wrap="none" lIns="0" tIns="0" rIns="0" bIns="0" rtlCol="0" anchor="t"/>
          <a:lstStyle/>
          <a:p>
            <a:pPr marL="0" indent="0" algn="l">
              <a:lnSpc>
                <a:spcPts val="2700"/>
              </a:lnSpc>
              <a:buNone/>
            </a:pPr>
            <a:r>
              <a:rPr lang="en-US" sz="1700" dirty="0">
                <a:solidFill>
                  <a:srgbClr val="272525"/>
                </a:solidFill>
                <a:latin typeface="Inter" pitchFamily="34" charset="0"/>
                <a:ea typeface="Inter" pitchFamily="34" charset="-122"/>
                <a:cs typeface="Inter" pitchFamily="34" charset="-120"/>
              </a:rPr>
              <a:t>0.9521</a:t>
            </a:r>
            <a:endParaRPr lang="en-US" sz="1700" dirty="0"/>
          </a:p>
        </p:txBody>
      </p:sp>
      <p:sp>
        <p:nvSpPr>
          <p:cNvPr id="18" name="Text 16"/>
          <p:cNvSpPr/>
          <p:nvPr/>
        </p:nvSpPr>
        <p:spPr>
          <a:xfrm>
            <a:off x="769025" y="7192686"/>
            <a:ext cx="7640955" cy="346115"/>
          </a:xfrm>
          <a:prstGeom prst="rect">
            <a:avLst/>
          </a:prstGeom>
          <a:noFill/>
          <a:ln/>
        </p:spPr>
        <p:txBody>
          <a:bodyPr wrap="none" lIns="0" tIns="0" rIns="0" bIns="0" rtlCol="0" anchor="t"/>
          <a:lstStyle/>
          <a:p>
            <a:pPr marL="0" indent="0" algn="l">
              <a:lnSpc>
                <a:spcPts val="2700"/>
              </a:lnSpc>
              <a:buNone/>
            </a:pPr>
            <a:r>
              <a:rPr lang="en-US" sz="1700" b="1" dirty="0">
                <a:solidFill>
                  <a:srgbClr val="272525"/>
                </a:solidFill>
                <a:latin typeface="Inter" pitchFamily="34" charset="0"/>
                <a:ea typeface="Inter" pitchFamily="34" charset="-122"/>
                <a:cs typeface="Inter" pitchFamily="34" charset="-120"/>
              </a:rPr>
              <a:t>Recall improvement:</a:t>
            </a:r>
            <a:r>
              <a:rPr lang="en-US" sz="1700" dirty="0">
                <a:solidFill>
                  <a:srgbClr val="272525"/>
                </a:solidFill>
                <a:latin typeface="Inter" pitchFamily="34" charset="0"/>
                <a:ea typeface="Inter" pitchFamily="34" charset="-122"/>
                <a:cs typeface="Inter" pitchFamily="34" charset="-120"/>
              </a:rPr>
              <a:t> +6.04% (from 0.8917 to 0.9521)</a:t>
            </a:r>
            <a:endParaRPr lang="en-US" sz="1700" dirty="0"/>
          </a:p>
        </p:txBody>
      </p:sp>
      <p:pic>
        <p:nvPicPr>
          <p:cNvPr id="20" name="Picture 1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79280" y="1888787"/>
            <a:ext cx="4766667" cy="2664937"/>
          </a:xfrm>
          <a:prstGeom prst="rect">
            <a:avLst/>
          </a:prstGeom>
        </p:spPr>
      </p:pic>
      <p:pic>
        <p:nvPicPr>
          <p:cNvPr id="21" name="Picture 2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21520" y="4856481"/>
            <a:ext cx="4917440" cy="332418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44260" y="725567"/>
            <a:ext cx="9446062" cy="664488"/>
          </a:xfrm>
          <a:prstGeom prst="rect">
            <a:avLst/>
          </a:prstGeom>
          <a:noFill/>
          <a:ln/>
        </p:spPr>
        <p:txBody>
          <a:bodyPr wrap="none" lIns="0" tIns="0" rIns="0" bIns="0" rtlCol="0" anchor="t"/>
          <a:lstStyle/>
          <a:p>
            <a:pPr marL="0" indent="0" algn="l">
              <a:lnSpc>
                <a:spcPts val="5200"/>
              </a:lnSpc>
              <a:buNone/>
            </a:pPr>
            <a:r>
              <a:rPr lang="en-US" sz="4150" b="1" dirty="0">
                <a:solidFill>
                  <a:schemeClr val="accent1">
                    <a:lumMod val="75000"/>
                  </a:schemeClr>
                </a:solidFill>
                <a:latin typeface="Inter Bold" pitchFamily="34" charset="0"/>
                <a:ea typeface="Inter Bold" pitchFamily="34" charset="-122"/>
                <a:cs typeface="Inter Bold" pitchFamily="34" charset="-120"/>
              </a:rPr>
              <a:t>Embedded Deployment on PYNQ-Z2</a:t>
            </a:r>
            <a:endParaRPr lang="en-US" sz="4150" dirty="0">
              <a:solidFill>
                <a:schemeClr val="accent1">
                  <a:lumMod val="75000"/>
                </a:schemeClr>
              </a:solidFill>
            </a:endParaRPr>
          </a:p>
        </p:txBody>
      </p:sp>
      <p:sp>
        <p:nvSpPr>
          <p:cNvPr id="3" name="Text 1"/>
          <p:cNvSpPr/>
          <p:nvPr/>
        </p:nvSpPr>
        <p:spPr>
          <a:xfrm>
            <a:off x="744260" y="1469708"/>
            <a:ext cx="6134695" cy="332303"/>
          </a:xfrm>
          <a:prstGeom prst="rect">
            <a:avLst/>
          </a:prstGeom>
          <a:noFill/>
          <a:ln/>
        </p:spPr>
        <p:txBody>
          <a:bodyPr wrap="none" lIns="0" tIns="0" rIns="0" bIns="0" rtlCol="0" anchor="t"/>
          <a:lstStyle/>
          <a:p>
            <a:pPr marL="0" indent="0" algn="l">
              <a:lnSpc>
                <a:spcPts val="2600"/>
              </a:lnSpc>
              <a:buNone/>
            </a:pPr>
            <a:r>
              <a:rPr lang="en-US" sz="2050" b="1" dirty="0">
                <a:solidFill>
                  <a:srgbClr val="000000"/>
                </a:solidFill>
                <a:latin typeface="Inter Bold" pitchFamily="34" charset="0"/>
                <a:ea typeface="Inter Bold" pitchFamily="34" charset="-122"/>
                <a:cs typeface="Inter Bold" pitchFamily="34" charset="-120"/>
              </a:rPr>
              <a:t>Edge Deployment — Real-Time Radar Detection</a:t>
            </a:r>
            <a:endParaRPr lang="en-US" sz="2050" dirty="0"/>
          </a:p>
        </p:txBody>
      </p:sp>
      <p:sp>
        <p:nvSpPr>
          <p:cNvPr id="4" name="Text 2"/>
          <p:cNvSpPr/>
          <p:nvPr/>
        </p:nvSpPr>
        <p:spPr>
          <a:xfrm>
            <a:off x="744260" y="2300288"/>
            <a:ext cx="3439358" cy="332303"/>
          </a:xfrm>
          <a:prstGeom prst="rect">
            <a:avLst/>
          </a:prstGeom>
          <a:noFill/>
          <a:ln/>
        </p:spPr>
        <p:txBody>
          <a:bodyPr wrap="none" lIns="0" tIns="0" rIns="0" bIns="0" rtlCol="0" anchor="t"/>
          <a:lstStyle/>
          <a:p>
            <a:pPr marL="0" indent="0" algn="l">
              <a:lnSpc>
                <a:spcPts val="2600"/>
              </a:lnSpc>
              <a:buNone/>
            </a:pPr>
            <a:r>
              <a:rPr lang="en-US" sz="2050" b="1" dirty="0">
                <a:solidFill>
                  <a:srgbClr val="000000"/>
                </a:solidFill>
                <a:latin typeface="Inter Bold" pitchFamily="34" charset="0"/>
                <a:ea typeface="Inter Bold" pitchFamily="34" charset="-122"/>
                <a:cs typeface="Inter Bold" pitchFamily="34" charset="-120"/>
              </a:rPr>
              <a:t>Platform &amp; Implementation</a:t>
            </a:r>
            <a:endParaRPr lang="en-US" sz="2050" dirty="0"/>
          </a:p>
        </p:txBody>
      </p:sp>
      <p:sp>
        <p:nvSpPr>
          <p:cNvPr id="5" name="Text 3"/>
          <p:cNvSpPr/>
          <p:nvPr/>
        </p:nvSpPr>
        <p:spPr>
          <a:xfrm>
            <a:off x="744260" y="2831902"/>
            <a:ext cx="6994565" cy="988695"/>
          </a:xfrm>
          <a:prstGeom prst="rect">
            <a:avLst/>
          </a:prstGeom>
          <a:noFill/>
          <a:ln/>
        </p:spPr>
        <p:txBody>
          <a:bodyPr wrap="square" lIns="0" tIns="0" rIns="0" bIns="0" rtlCol="0" anchor="t"/>
          <a:lstStyle/>
          <a:p>
            <a:pPr marL="0" indent="0" algn="just">
              <a:lnSpc>
                <a:spcPts val="2550"/>
              </a:lnSpc>
              <a:buNone/>
            </a:pPr>
            <a:r>
              <a:rPr lang="en-US" sz="1650" b="1" dirty="0">
                <a:solidFill>
                  <a:srgbClr val="272525"/>
                </a:solidFill>
                <a:latin typeface="Inter" pitchFamily="34" charset="0"/>
                <a:ea typeface="Inter" pitchFamily="34" charset="-122"/>
                <a:cs typeface="Inter" pitchFamily="34" charset="-120"/>
              </a:rPr>
              <a:t>Platform:</a:t>
            </a:r>
            <a:r>
              <a:rPr lang="en-US" sz="1650" dirty="0">
                <a:solidFill>
                  <a:srgbClr val="272525"/>
                </a:solidFill>
                <a:latin typeface="Inter" pitchFamily="34" charset="0"/>
                <a:ea typeface="Inter" pitchFamily="34" charset="-122"/>
                <a:cs typeface="Inter" pitchFamily="34" charset="-120"/>
              </a:rPr>
              <a:t> PYNQ-Z2 development board (Xilinx Zynq-7000), dual-core ARM + FPGA fabric. Connected to host via Ethernet; controlled via Jupyter Notebook interface.</a:t>
            </a:r>
            <a:endParaRPr lang="en-US" sz="1650" dirty="0"/>
          </a:p>
        </p:txBody>
      </p:sp>
      <p:sp>
        <p:nvSpPr>
          <p:cNvPr id="6" name="Text 4"/>
          <p:cNvSpPr/>
          <p:nvPr/>
        </p:nvSpPr>
        <p:spPr>
          <a:xfrm>
            <a:off x="744260" y="3999905"/>
            <a:ext cx="6994565" cy="988695"/>
          </a:xfrm>
          <a:prstGeom prst="rect">
            <a:avLst/>
          </a:prstGeom>
          <a:noFill/>
          <a:ln/>
        </p:spPr>
        <p:txBody>
          <a:bodyPr wrap="square" lIns="0" tIns="0" rIns="0" bIns="0" rtlCol="0" anchor="t"/>
          <a:lstStyle/>
          <a:p>
            <a:pPr marL="0" indent="0" algn="just">
              <a:lnSpc>
                <a:spcPts val="2550"/>
              </a:lnSpc>
              <a:buNone/>
            </a:pPr>
            <a:r>
              <a:rPr lang="en-US" sz="1650" b="1" dirty="0">
                <a:solidFill>
                  <a:srgbClr val="272525"/>
                </a:solidFill>
                <a:latin typeface="Inter" pitchFamily="34" charset="0"/>
                <a:ea typeface="Inter" pitchFamily="34" charset="-122"/>
                <a:cs typeface="Inter" pitchFamily="34" charset="-120"/>
              </a:rPr>
              <a:t>Model:</a:t>
            </a:r>
            <a:r>
              <a:rPr lang="en-US" sz="1650" dirty="0">
                <a:solidFill>
                  <a:srgbClr val="272525"/>
                </a:solidFill>
                <a:latin typeface="Inter" pitchFamily="34" charset="0"/>
                <a:ea typeface="Inter" pitchFamily="34" charset="-122"/>
                <a:cs typeface="Inter" pitchFamily="34" charset="-120"/>
              </a:rPr>
              <a:t> YOLOv8 Nano converted to ONNX format for ARM inference. Input spectrograms resized to 256×256 and normalized. Confidence threshold: 0.25.</a:t>
            </a:r>
            <a:endParaRPr lang="en-US" sz="1650" dirty="0"/>
          </a:p>
        </p:txBody>
      </p:sp>
      <p:sp>
        <p:nvSpPr>
          <p:cNvPr id="7" name="Text 5"/>
          <p:cNvSpPr/>
          <p:nvPr/>
        </p:nvSpPr>
        <p:spPr>
          <a:xfrm>
            <a:off x="744260" y="5167908"/>
            <a:ext cx="6994565" cy="988695"/>
          </a:xfrm>
          <a:prstGeom prst="rect">
            <a:avLst/>
          </a:prstGeom>
          <a:noFill/>
          <a:ln/>
        </p:spPr>
        <p:txBody>
          <a:bodyPr wrap="square" lIns="0" tIns="0" rIns="0" bIns="0" rtlCol="0" anchor="t"/>
          <a:lstStyle/>
          <a:p>
            <a:pPr marL="0" indent="0" algn="just">
              <a:lnSpc>
                <a:spcPts val="2550"/>
              </a:lnSpc>
              <a:buNone/>
            </a:pPr>
            <a:r>
              <a:rPr lang="en-US" sz="1650" b="1" dirty="0">
                <a:solidFill>
                  <a:srgbClr val="272525"/>
                </a:solidFill>
                <a:latin typeface="Inter" pitchFamily="34" charset="0"/>
                <a:ea typeface="Inter" pitchFamily="34" charset="-122"/>
                <a:cs typeface="Inter" pitchFamily="34" charset="-120"/>
              </a:rPr>
              <a:t>Constraints acknowledged:</a:t>
            </a:r>
            <a:r>
              <a:rPr lang="en-US" sz="1650" dirty="0">
                <a:solidFill>
                  <a:srgbClr val="272525"/>
                </a:solidFill>
                <a:latin typeface="Inter" pitchFamily="34" charset="0"/>
                <a:ea typeface="Inter" pitchFamily="34" charset="-122"/>
                <a:cs typeface="Inter" pitchFamily="34" charset="-120"/>
              </a:rPr>
              <a:t> Lower representational capacity vs. larger models; quantization introduces a performance–efficiency tradeoff, slightly reducing accuracy in exchange for faster inference.</a:t>
            </a:r>
            <a:endParaRPr lang="en-US" sz="1650" dirty="0"/>
          </a:p>
        </p:txBody>
      </p:sp>
      <p:sp>
        <p:nvSpPr>
          <p:cNvPr id="8" name="Text 6"/>
          <p:cNvSpPr/>
          <p:nvPr/>
        </p:nvSpPr>
        <p:spPr>
          <a:xfrm>
            <a:off x="744260" y="6335911"/>
            <a:ext cx="6994565" cy="988695"/>
          </a:xfrm>
          <a:prstGeom prst="rect">
            <a:avLst/>
          </a:prstGeom>
          <a:noFill/>
          <a:ln/>
        </p:spPr>
        <p:txBody>
          <a:bodyPr wrap="square" lIns="0" tIns="0" rIns="0" bIns="0" rtlCol="0" anchor="t"/>
          <a:lstStyle/>
          <a:p>
            <a:pPr marL="0" indent="0" algn="just">
              <a:lnSpc>
                <a:spcPts val="2550"/>
              </a:lnSpc>
              <a:buNone/>
            </a:pPr>
            <a:r>
              <a:rPr lang="en-US" sz="1650" b="1" dirty="0">
                <a:solidFill>
                  <a:srgbClr val="272525"/>
                </a:solidFill>
                <a:latin typeface="Inter" pitchFamily="34" charset="0"/>
                <a:ea typeface="Inter" pitchFamily="34" charset="-122"/>
                <a:cs typeface="Inter" pitchFamily="34" charset="-120"/>
              </a:rPr>
              <a:t>Conclusion:</a:t>
            </a:r>
            <a:r>
              <a:rPr lang="en-US" sz="1650" dirty="0">
                <a:solidFill>
                  <a:srgbClr val="272525"/>
                </a:solidFill>
                <a:latin typeface="Inter" pitchFamily="34" charset="0"/>
                <a:ea typeface="Inter" pitchFamily="34" charset="-122"/>
                <a:cs typeface="Inter" pitchFamily="34" charset="-120"/>
              </a:rPr>
              <a:t> Demonstrates feasibility of real-time spectrum monitoring on resource-constrained edge devices with minimal infrastructure requirements.</a:t>
            </a:r>
            <a:endParaRPr lang="en-US" sz="1650" dirty="0"/>
          </a:p>
        </p:txBody>
      </p:sp>
      <p:sp>
        <p:nvSpPr>
          <p:cNvPr id="12" name="Shape 10"/>
          <p:cNvSpPr/>
          <p:nvPr/>
        </p:nvSpPr>
        <p:spPr>
          <a:xfrm>
            <a:off x="7995766" y="2081525"/>
            <a:ext cx="2714625" cy="889292"/>
          </a:xfrm>
          <a:prstGeom prst="roundRect">
            <a:avLst>
              <a:gd name="adj" fmla="val 6704"/>
            </a:avLst>
          </a:prstGeom>
          <a:solidFill>
            <a:srgbClr val="FFFFFF"/>
          </a:solidFill>
          <a:ln w="22860">
            <a:solidFill>
              <a:srgbClr val="C0C1D7"/>
            </a:solidFill>
            <a:prstDash val="solid"/>
          </a:ln>
        </p:spPr>
      </p:sp>
      <p:sp>
        <p:nvSpPr>
          <p:cNvPr id="13" name="Text 11"/>
          <p:cNvSpPr/>
          <p:nvPr/>
        </p:nvSpPr>
        <p:spPr>
          <a:xfrm>
            <a:off x="8378456" y="2244050"/>
            <a:ext cx="2371061" cy="291231"/>
          </a:xfrm>
          <a:prstGeom prst="rect">
            <a:avLst/>
          </a:prstGeom>
          <a:noFill/>
          <a:ln/>
        </p:spPr>
        <p:txBody>
          <a:bodyPr wrap="none" lIns="0" tIns="0" rIns="0" bIns="0" rtlCol="0" anchor="t"/>
          <a:lstStyle/>
          <a:p>
            <a:pPr marL="0" indent="0" algn="l">
              <a:lnSpc>
                <a:spcPts val="2600"/>
              </a:lnSpc>
              <a:buNone/>
            </a:pPr>
            <a:r>
              <a:rPr lang="en-US" sz="2050" b="1" dirty="0">
                <a:solidFill>
                  <a:srgbClr val="272525"/>
                </a:solidFill>
                <a:latin typeface="Inter Bold" pitchFamily="34" charset="0"/>
                <a:ea typeface="Inter Bold" pitchFamily="34" charset="-122"/>
                <a:cs typeface="Inter Bold" pitchFamily="34" charset="-120"/>
              </a:rPr>
              <a:t>Conf. Threshold</a:t>
            </a:r>
            <a:endParaRPr lang="en-US" sz="2050" dirty="0"/>
          </a:p>
        </p:txBody>
      </p:sp>
      <p:sp>
        <p:nvSpPr>
          <p:cNvPr id="14" name="Text 12"/>
          <p:cNvSpPr/>
          <p:nvPr/>
        </p:nvSpPr>
        <p:spPr>
          <a:xfrm>
            <a:off x="8835746" y="2535281"/>
            <a:ext cx="2243614" cy="332302"/>
          </a:xfrm>
          <a:prstGeom prst="rect">
            <a:avLst/>
          </a:prstGeom>
          <a:noFill/>
          <a:ln/>
        </p:spPr>
        <p:txBody>
          <a:bodyPr wrap="none" lIns="0" tIns="0" rIns="0" bIns="0" rtlCol="0" anchor="t"/>
          <a:lstStyle/>
          <a:p>
            <a:pPr marL="0" indent="0" algn="l">
              <a:lnSpc>
                <a:spcPts val="2550"/>
              </a:lnSpc>
              <a:buNone/>
            </a:pPr>
            <a:r>
              <a:rPr lang="en-US" sz="1650" dirty="0">
                <a:solidFill>
                  <a:srgbClr val="272525"/>
                </a:solidFill>
                <a:latin typeface="Inter" pitchFamily="34" charset="0"/>
                <a:ea typeface="Inter" pitchFamily="34" charset="-122"/>
                <a:cs typeface="Inter" pitchFamily="34" charset="-120"/>
              </a:rPr>
              <a:t>0.25</a:t>
            </a:r>
            <a:endParaRPr lang="en-US" sz="1650" dirty="0"/>
          </a:p>
        </p:txBody>
      </p:sp>
      <p:sp>
        <p:nvSpPr>
          <p:cNvPr id="15" name="Shape 13"/>
          <p:cNvSpPr/>
          <p:nvPr/>
        </p:nvSpPr>
        <p:spPr>
          <a:xfrm>
            <a:off x="10843855" y="2109090"/>
            <a:ext cx="2893410" cy="889292"/>
          </a:xfrm>
          <a:prstGeom prst="roundRect">
            <a:avLst>
              <a:gd name="adj" fmla="val 6704"/>
            </a:avLst>
          </a:prstGeom>
          <a:solidFill>
            <a:srgbClr val="FFFFFF"/>
          </a:solidFill>
          <a:ln w="22860">
            <a:solidFill>
              <a:srgbClr val="C0C1D7"/>
            </a:solidFill>
            <a:prstDash val="solid"/>
          </a:ln>
        </p:spPr>
      </p:sp>
      <p:sp>
        <p:nvSpPr>
          <p:cNvPr id="16" name="Text 14"/>
          <p:cNvSpPr/>
          <p:nvPr/>
        </p:nvSpPr>
        <p:spPr>
          <a:xfrm>
            <a:off x="11536650" y="2193868"/>
            <a:ext cx="2658070" cy="332303"/>
          </a:xfrm>
          <a:prstGeom prst="rect">
            <a:avLst/>
          </a:prstGeom>
          <a:noFill/>
          <a:ln/>
        </p:spPr>
        <p:txBody>
          <a:bodyPr wrap="none" lIns="0" tIns="0" rIns="0" bIns="0" rtlCol="0" anchor="t"/>
          <a:lstStyle/>
          <a:p>
            <a:pPr marL="0" indent="0" algn="l">
              <a:lnSpc>
                <a:spcPts val="2600"/>
              </a:lnSpc>
              <a:buNone/>
            </a:pPr>
            <a:r>
              <a:rPr lang="en-US" sz="2050" b="1" dirty="0">
                <a:solidFill>
                  <a:srgbClr val="272525"/>
                </a:solidFill>
                <a:latin typeface="Inter Bold" pitchFamily="34" charset="0"/>
                <a:ea typeface="Inter Bold" pitchFamily="34" charset="-122"/>
                <a:cs typeface="Inter Bold" pitchFamily="34" charset="-120"/>
              </a:rPr>
              <a:t>Format</a:t>
            </a:r>
            <a:endParaRPr lang="en-US" sz="2050" dirty="0"/>
          </a:p>
        </p:txBody>
      </p:sp>
      <p:sp>
        <p:nvSpPr>
          <p:cNvPr id="17" name="Text 15"/>
          <p:cNvSpPr/>
          <p:nvPr/>
        </p:nvSpPr>
        <p:spPr>
          <a:xfrm>
            <a:off x="10985811" y="2446166"/>
            <a:ext cx="5157549" cy="329565"/>
          </a:xfrm>
          <a:prstGeom prst="rect">
            <a:avLst/>
          </a:prstGeom>
          <a:noFill/>
          <a:ln/>
        </p:spPr>
        <p:txBody>
          <a:bodyPr wrap="none" lIns="0" tIns="0" rIns="0" bIns="0" rtlCol="0" anchor="t"/>
          <a:lstStyle/>
          <a:p>
            <a:pPr marL="0" indent="0" algn="l">
              <a:lnSpc>
                <a:spcPts val="2550"/>
              </a:lnSpc>
              <a:buNone/>
            </a:pPr>
            <a:r>
              <a:rPr lang="en-US" sz="1650" dirty="0">
                <a:solidFill>
                  <a:srgbClr val="272525"/>
                </a:solidFill>
                <a:latin typeface="Inter" pitchFamily="34" charset="0"/>
                <a:ea typeface="Inter" pitchFamily="34" charset="-122"/>
                <a:cs typeface="Inter" pitchFamily="34" charset="-120"/>
              </a:rPr>
              <a:t>ONNX (ARM-compatible)</a:t>
            </a:r>
            <a:endParaRPr lang="en-US" sz="1650" dirty="0"/>
          </a:p>
        </p:txBody>
      </p:sp>
      <p:pic>
        <p:nvPicPr>
          <p:cNvPr id="18" name="Picture 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38936" y="3289613"/>
            <a:ext cx="5698329" cy="420293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44260" y="664250"/>
            <a:ext cx="7995285" cy="664488"/>
          </a:xfrm>
          <a:prstGeom prst="rect">
            <a:avLst/>
          </a:prstGeom>
          <a:noFill/>
          <a:ln/>
        </p:spPr>
        <p:txBody>
          <a:bodyPr wrap="none" lIns="0" tIns="0" rIns="0" bIns="0" rtlCol="0" anchor="t"/>
          <a:lstStyle/>
          <a:p>
            <a:pPr marL="0" indent="0" algn="l">
              <a:lnSpc>
                <a:spcPts val="5200"/>
              </a:lnSpc>
              <a:buNone/>
            </a:pPr>
            <a:r>
              <a:rPr lang="en-US" sz="4150" b="1" dirty="0">
                <a:solidFill>
                  <a:schemeClr val="accent1">
                    <a:lumMod val="75000"/>
                  </a:schemeClr>
                </a:solidFill>
                <a:latin typeface="Inter Bold" pitchFamily="34" charset="0"/>
                <a:ea typeface="Inter Bold" pitchFamily="34" charset="-122"/>
                <a:cs typeface="Inter Bold" pitchFamily="34" charset="-120"/>
              </a:rPr>
              <a:t>Conclusion &amp; Future Directions</a:t>
            </a:r>
            <a:endParaRPr lang="en-US" sz="4150" dirty="0">
              <a:solidFill>
                <a:schemeClr val="accent1">
                  <a:lumMod val="75000"/>
                </a:schemeClr>
              </a:solidFill>
            </a:endParaRPr>
          </a:p>
        </p:txBody>
      </p:sp>
      <p:sp>
        <p:nvSpPr>
          <p:cNvPr id="3" name="Text 1"/>
          <p:cNvSpPr/>
          <p:nvPr/>
        </p:nvSpPr>
        <p:spPr>
          <a:xfrm>
            <a:off x="744260" y="1827014"/>
            <a:ext cx="2658070" cy="332303"/>
          </a:xfrm>
          <a:prstGeom prst="rect">
            <a:avLst/>
          </a:prstGeom>
          <a:noFill/>
          <a:ln/>
        </p:spPr>
        <p:txBody>
          <a:bodyPr wrap="none" lIns="0" tIns="0" rIns="0" bIns="0" rtlCol="0" anchor="t"/>
          <a:lstStyle/>
          <a:p>
            <a:pPr marL="0" indent="0" algn="l">
              <a:lnSpc>
                <a:spcPts val="2600"/>
              </a:lnSpc>
              <a:buNone/>
            </a:pPr>
            <a:r>
              <a:rPr lang="en-US" sz="2050" b="1" dirty="0">
                <a:solidFill>
                  <a:srgbClr val="000000"/>
                </a:solidFill>
                <a:latin typeface="Inter Bold" pitchFamily="34" charset="0"/>
                <a:ea typeface="Inter Bold" pitchFamily="34" charset="-122"/>
                <a:cs typeface="Inter Bold" pitchFamily="34" charset="-120"/>
              </a:rPr>
              <a:t>Key Achievements</a:t>
            </a:r>
            <a:endParaRPr lang="en-US" sz="2050" dirty="0"/>
          </a:p>
        </p:txBody>
      </p:sp>
      <p:sp>
        <p:nvSpPr>
          <p:cNvPr id="4" name="Text 2"/>
          <p:cNvSpPr/>
          <p:nvPr/>
        </p:nvSpPr>
        <p:spPr>
          <a:xfrm>
            <a:off x="744260" y="2358628"/>
            <a:ext cx="6311622" cy="3574733"/>
          </a:xfrm>
          <a:prstGeom prst="rect">
            <a:avLst/>
          </a:prstGeom>
          <a:noFill/>
          <a:ln/>
        </p:spPr>
        <p:txBody>
          <a:bodyPr wrap="square" lIns="0" tIns="0" rIns="0" bIns="0" rtlCol="0" anchor="t"/>
          <a:lstStyle/>
          <a:p>
            <a:pPr marL="342900" indent="-342900" algn="just">
              <a:lnSpc>
                <a:spcPts val="2550"/>
              </a:lnSpc>
              <a:buSzPct val="100000"/>
              <a:buChar char="•"/>
            </a:pPr>
            <a:r>
              <a:rPr lang="en-US" sz="1650" dirty="0">
                <a:solidFill>
                  <a:srgbClr val="272525"/>
                </a:solidFill>
                <a:latin typeface="Inter" pitchFamily="34" charset="0"/>
                <a:ea typeface="Inter" pitchFamily="34" charset="-122"/>
                <a:cs typeface="Inter" pitchFamily="34" charset="-120"/>
              </a:rPr>
              <a:t>Systematic ablation study revealing that radar detection is fundamentally a small-object detection problem</a:t>
            </a:r>
            <a:endParaRPr lang="en-US" sz="1650" dirty="0"/>
          </a:p>
          <a:p>
            <a:pPr marL="342900" indent="-342900" algn="just">
              <a:lnSpc>
                <a:spcPts val="2550"/>
              </a:lnSpc>
              <a:buSzPct val="100000"/>
              <a:buChar char="•"/>
            </a:pPr>
            <a:r>
              <a:rPr lang="en-US" sz="1650" dirty="0">
                <a:solidFill>
                  <a:srgbClr val="272525"/>
                </a:solidFill>
                <a:latin typeface="Inter" pitchFamily="34" charset="0"/>
                <a:ea typeface="Inter" pitchFamily="34" charset="-122"/>
                <a:cs typeface="Inter" pitchFamily="34" charset="-120"/>
              </a:rPr>
              <a:t>P3 (high-resolution) features dominate; P5 (semantic) features contribute minimally to performance</a:t>
            </a:r>
            <a:endParaRPr lang="en-US" sz="1650" dirty="0"/>
          </a:p>
          <a:p>
            <a:pPr marL="342900" indent="-342900" algn="just">
              <a:lnSpc>
                <a:spcPts val="2550"/>
              </a:lnSpc>
              <a:buSzPct val="100000"/>
              <a:buChar char="•"/>
            </a:pPr>
            <a:r>
              <a:rPr lang="en-US" sz="1650" dirty="0">
                <a:solidFill>
                  <a:srgbClr val="272525"/>
                </a:solidFill>
                <a:latin typeface="Inter" pitchFamily="34" charset="0"/>
                <a:ea typeface="Inter" pitchFamily="34" charset="-122"/>
                <a:cs typeface="Inter" pitchFamily="34" charset="-120"/>
              </a:rPr>
              <a:t>Backbone fine-tuning critical for domain-specific adaptation to radar spectrograms</a:t>
            </a:r>
            <a:endParaRPr lang="en-US" sz="1650" dirty="0"/>
          </a:p>
          <a:p>
            <a:pPr marL="342900" indent="-342900" algn="just">
              <a:lnSpc>
                <a:spcPts val="2550"/>
              </a:lnSpc>
              <a:buSzPct val="100000"/>
              <a:buChar char="•"/>
            </a:pPr>
            <a:r>
              <a:rPr lang="en-US" sz="1650" dirty="0">
                <a:solidFill>
                  <a:srgbClr val="272525"/>
                </a:solidFill>
                <a:latin typeface="Inter" pitchFamily="34" charset="0"/>
                <a:ea typeface="Inter" pitchFamily="34" charset="-122"/>
                <a:cs typeface="Inter" pitchFamily="34" charset="-120"/>
              </a:rPr>
              <a:t>Hybrid ensemble achieves mAP50 of 94.36, recall of 95.21 — significant improvement over baseline</a:t>
            </a:r>
            <a:endParaRPr lang="en-US" sz="1650" dirty="0"/>
          </a:p>
          <a:p>
            <a:pPr marL="342900" indent="-342900" algn="just">
              <a:lnSpc>
                <a:spcPts val="2550"/>
              </a:lnSpc>
              <a:buSzPct val="100000"/>
              <a:buChar char="•"/>
            </a:pPr>
            <a:r>
              <a:rPr lang="en-US" sz="1650" dirty="0">
                <a:solidFill>
                  <a:srgbClr val="272525"/>
                </a:solidFill>
                <a:latin typeface="Inter" pitchFamily="34" charset="0"/>
                <a:ea typeface="Inter" pitchFamily="34" charset="-122"/>
                <a:cs typeface="Inter" pitchFamily="34" charset="-120"/>
              </a:rPr>
              <a:t>Real-time embedded deployment demonstrated on PYNQ-Z2 with YOLOv8 Nano + ONNX</a:t>
            </a:r>
            <a:endParaRPr lang="en-US" sz="1650" dirty="0"/>
          </a:p>
        </p:txBody>
      </p:sp>
      <p:sp>
        <p:nvSpPr>
          <p:cNvPr id="5" name="Text 3"/>
          <p:cNvSpPr/>
          <p:nvPr/>
        </p:nvSpPr>
        <p:spPr>
          <a:xfrm>
            <a:off x="7582138" y="1827014"/>
            <a:ext cx="2658070" cy="332303"/>
          </a:xfrm>
          <a:prstGeom prst="rect">
            <a:avLst/>
          </a:prstGeom>
          <a:noFill/>
          <a:ln/>
        </p:spPr>
        <p:txBody>
          <a:bodyPr wrap="none" lIns="0" tIns="0" rIns="0" bIns="0" rtlCol="0" anchor="t"/>
          <a:lstStyle/>
          <a:p>
            <a:pPr marL="0" indent="0" algn="l">
              <a:lnSpc>
                <a:spcPts val="2600"/>
              </a:lnSpc>
              <a:buNone/>
            </a:pPr>
            <a:r>
              <a:rPr lang="en-US" sz="2050" b="1" dirty="0">
                <a:solidFill>
                  <a:srgbClr val="000000"/>
                </a:solidFill>
                <a:latin typeface="Inter Bold" pitchFamily="34" charset="0"/>
                <a:ea typeface="Inter Bold" pitchFamily="34" charset="-122"/>
                <a:cs typeface="Inter Bold" pitchFamily="34" charset="-120"/>
              </a:rPr>
              <a:t>Future Work</a:t>
            </a:r>
            <a:endParaRPr lang="en-US" sz="2050" dirty="0"/>
          </a:p>
        </p:txBody>
      </p:sp>
      <p:sp>
        <p:nvSpPr>
          <p:cNvPr id="6" name="Text 4"/>
          <p:cNvSpPr/>
          <p:nvPr/>
        </p:nvSpPr>
        <p:spPr>
          <a:xfrm>
            <a:off x="7582138" y="2358628"/>
            <a:ext cx="6311622" cy="2586038"/>
          </a:xfrm>
          <a:prstGeom prst="rect">
            <a:avLst/>
          </a:prstGeom>
          <a:noFill/>
          <a:ln/>
        </p:spPr>
        <p:txBody>
          <a:bodyPr wrap="square" lIns="0" tIns="0" rIns="0" bIns="0" rtlCol="0" anchor="t"/>
          <a:lstStyle/>
          <a:p>
            <a:pPr marL="342900" indent="-342900" algn="just">
              <a:lnSpc>
                <a:spcPts val="2550"/>
              </a:lnSpc>
              <a:buSzPct val="100000"/>
              <a:buChar char="•"/>
            </a:pPr>
            <a:r>
              <a:rPr lang="en-US" sz="1650" dirty="0">
                <a:solidFill>
                  <a:srgbClr val="272525"/>
                </a:solidFill>
                <a:latin typeface="Inter" pitchFamily="34" charset="0"/>
                <a:ea typeface="Inter" pitchFamily="34" charset="-122"/>
                <a:cs typeface="Inter" pitchFamily="34" charset="-120"/>
              </a:rPr>
              <a:t>Deployment of the model on FPGA hardware for real time processing.</a:t>
            </a:r>
          </a:p>
          <a:p>
            <a:pPr marL="342900" indent="-342900" algn="just">
              <a:lnSpc>
                <a:spcPts val="2550"/>
              </a:lnSpc>
              <a:buSzPct val="100000"/>
              <a:buChar char="•"/>
            </a:pPr>
            <a:r>
              <a:rPr lang="en-US" sz="1650" dirty="0">
                <a:solidFill>
                  <a:srgbClr val="272525"/>
                </a:solidFill>
                <a:latin typeface="Inter" pitchFamily="34" charset="0"/>
                <a:ea typeface="Inter" pitchFamily="34" charset="-122"/>
                <a:cs typeface="Inter" pitchFamily="34" charset="-120"/>
              </a:rPr>
              <a:t>Augmentation and denoising techniques for noise robustness</a:t>
            </a:r>
            <a:endParaRPr lang="en-US" sz="1650" dirty="0"/>
          </a:p>
          <a:p>
            <a:pPr marL="342900" indent="-342900" algn="just">
              <a:lnSpc>
                <a:spcPts val="2550"/>
              </a:lnSpc>
              <a:buSzPct val="100000"/>
              <a:buChar char="•"/>
            </a:pPr>
            <a:r>
              <a:rPr lang="en-US" sz="1650" dirty="0">
                <a:solidFill>
                  <a:srgbClr val="272525"/>
                </a:solidFill>
                <a:latin typeface="Inter" pitchFamily="34" charset="0"/>
                <a:ea typeface="Inter" pitchFamily="34" charset="-122"/>
                <a:cs typeface="Inter" pitchFamily="34" charset="-120"/>
              </a:rPr>
              <a:t>Adaptive or learned thresholding strategies</a:t>
            </a:r>
            <a:endParaRPr lang="en-US" sz="1650" dirty="0"/>
          </a:p>
          <a:p>
            <a:pPr marL="342900" indent="-342900" algn="just">
              <a:lnSpc>
                <a:spcPts val="2550"/>
              </a:lnSpc>
              <a:buSzPct val="100000"/>
              <a:buChar char="•"/>
            </a:pPr>
            <a:r>
              <a:rPr lang="en-US" sz="1650" dirty="0">
                <a:solidFill>
                  <a:srgbClr val="272525"/>
                </a:solidFill>
                <a:latin typeface="Inter" pitchFamily="34" charset="0"/>
                <a:ea typeface="Inter" pitchFamily="34" charset="-122"/>
                <a:cs typeface="Inter" pitchFamily="34" charset="-120"/>
              </a:rPr>
              <a:t>Non-maximum suppression improvements (Canny-style)</a:t>
            </a:r>
            <a:endParaRPr lang="en-US" sz="1650" dirty="0"/>
          </a:p>
          <a:p>
            <a:pPr marL="342900" indent="-342900" algn="just">
              <a:lnSpc>
                <a:spcPts val="2550"/>
              </a:lnSpc>
              <a:buSzPct val="100000"/>
              <a:buChar char="•"/>
            </a:pPr>
            <a:r>
              <a:rPr lang="en-US" sz="1650" dirty="0">
                <a:solidFill>
                  <a:srgbClr val="272525"/>
                </a:solidFill>
                <a:latin typeface="Inter" pitchFamily="34" charset="0"/>
                <a:ea typeface="Inter" pitchFamily="34" charset="-122"/>
                <a:cs typeface="Inter" pitchFamily="34" charset="-120"/>
              </a:rPr>
              <a:t>RGB/multi-channel spectrogram support</a:t>
            </a:r>
            <a:endParaRPr lang="en-US" sz="1650" dirty="0"/>
          </a:p>
          <a:p>
            <a:pPr marL="342900" indent="-342900" algn="just">
              <a:lnSpc>
                <a:spcPts val="2550"/>
              </a:lnSpc>
              <a:buSzPct val="100000"/>
              <a:buChar char="•"/>
            </a:pPr>
            <a:r>
              <a:rPr lang="en-US" sz="1650" dirty="0">
                <a:solidFill>
                  <a:srgbClr val="272525"/>
                </a:solidFill>
                <a:latin typeface="Inter" pitchFamily="34" charset="0"/>
                <a:ea typeface="Inter" pitchFamily="34" charset="-122"/>
                <a:cs typeface="Inter" pitchFamily="34" charset="-120"/>
              </a:rPr>
              <a:t>Self-checking testbench and quantization-aware training for edge deployment</a:t>
            </a:r>
          </a:p>
        </p:txBody>
      </p:sp>
      <p:sp>
        <p:nvSpPr>
          <p:cNvPr id="7" name="Shape 5"/>
          <p:cNvSpPr/>
          <p:nvPr/>
        </p:nvSpPr>
        <p:spPr>
          <a:xfrm>
            <a:off x="744260" y="6280428"/>
            <a:ext cx="13141881" cy="15835"/>
          </a:xfrm>
          <a:prstGeom prst="rect">
            <a:avLst/>
          </a:prstGeom>
          <a:solidFill>
            <a:srgbClr val="272525">
              <a:alpha val="50000"/>
            </a:srgbClr>
          </a:solidFill>
          <a:ln/>
        </p:spPr>
      </p:sp>
      <p:sp>
        <p:nvSpPr>
          <p:cNvPr id="8" name="Text 6"/>
          <p:cNvSpPr/>
          <p:nvPr/>
        </p:nvSpPr>
        <p:spPr>
          <a:xfrm>
            <a:off x="3416087" y="6652497"/>
            <a:ext cx="7336393" cy="917019"/>
          </a:xfrm>
          <a:prstGeom prst="rect">
            <a:avLst/>
          </a:prstGeom>
          <a:noFill/>
          <a:ln/>
        </p:spPr>
        <p:txBody>
          <a:bodyPr wrap="none" lIns="0" tIns="0" rIns="0" bIns="0" rtlCol="0" anchor="t"/>
          <a:lstStyle/>
          <a:p>
            <a:pPr marL="0" indent="0" algn="ctr">
              <a:lnSpc>
                <a:spcPts val="7200"/>
              </a:lnSpc>
              <a:buNone/>
            </a:pPr>
            <a:r>
              <a:rPr lang="en-US" sz="5750" b="1" dirty="0">
                <a:solidFill>
                  <a:srgbClr val="000000"/>
                </a:solidFill>
                <a:latin typeface="Inter Bold" pitchFamily="34" charset="0"/>
                <a:ea typeface="Inter Bold" pitchFamily="34" charset="-122"/>
                <a:cs typeface="Inter Bold" pitchFamily="34" charset="-120"/>
              </a:rPr>
              <a:t>Thank You</a:t>
            </a:r>
            <a:endParaRPr lang="en-US" sz="5750" dirty="0"/>
          </a:p>
        </p:txBody>
      </p:sp>
      <p:sp>
        <p:nvSpPr>
          <p:cNvPr id="9" name="Shape 5">
            <a:extLst>
              <a:ext uri="{FF2B5EF4-FFF2-40B4-BE49-F238E27FC236}">
                <a16:creationId xmlns:a16="http://schemas.microsoft.com/office/drawing/2014/main" id="{6CE566B2-1DF2-7030-475B-0EBE75EF6C3C}"/>
              </a:ext>
            </a:extLst>
          </p:cNvPr>
          <p:cNvSpPr/>
          <p:nvPr/>
        </p:nvSpPr>
        <p:spPr>
          <a:xfrm>
            <a:off x="744259" y="6432828"/>
            <a:ext cx="13141881" cy="15835"/>
          </a:xfrm>
          <a:prstGeom prst="rect">
            <a:avLst/>
          </a:prstGeom>
          <a:solidFill>
            <a:srgbClr val="272525">
              <a:alpha val="50000"/>
            </a:srgbClr>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154</TotalTime>
  <Words>1124</Words>
  <Application>Microsoft Office PowerPoint</Application>
  <PresentationFormat>Custom</PresentationFormat>
  <Paragraphs>171</Paragraphs>
  <Slides>11</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Cambria Math</vt:lpstr>
      <vt:lpstr>Inter Bold</vt:lpstr>
      <vt:lpstr>Aptos</vt:lpstr>
      <vt:lpstr>Arial</vt:lpstr>
      <vt:lpstr>Inter</vt:lpstr>
      <vt:lpstr>HP Simplified</vt:lpstr>
      <vt:lpstr>High Tower Text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bibek barman</dc:creator>
  <cp:lastModifiedBy>Ayush Verma</cp:lastModifiedBy>
  <cp:revision>14</cp:revision>
  <dcterms:created xsi:type="dcterms:W3CDTF">2026-05-04T15:36:18Z</dcterms:created>
  <dcterms:modified xsi:type="dcterms:W3CDTF">2026-05-04T18:35:28Z</dcterms:modified>
</cp:coreProperties>
</file>